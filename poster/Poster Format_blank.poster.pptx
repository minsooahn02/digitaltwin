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</p:sldIdLst>
  <p:sldSz cx="30275213" cy="42803763"/>
  <p:notesSz cx="6858000" cy="9144000"/>
  <p:defaultTextStyle>
    <a:defPPr>
      <a:defRPr lang="ko-KR"/>
    </a:defPPr>
    <a:lvl1pPr marL="0" algn="l" defTabSz="3507730" rtl="0" eaLnBrk="1" latinLnBrk="1" hangingPunct="1">
      <a:defRPr sz="6905" kern="1200">
        <a:solidFill>
          <a:schemeClr val="tx1"/>
        </a:solidFill>
        <a:latin typeface="+mn-lt"/>
        <a:ea typeface="+mn-ea"/>
        <a:cs typeface="+mn-cs"/>
      </a:defRPr>
    </a:lvl1pPr>
    <a:lvl2pPr marL="1753865" algn="l" defTabSz="3507730" rtl="0" eaLnBrk="1" latinLnBrk="1" hangingPunct="1">
      <a:defRPr sz="6905" kern="1200">
        <a:solidFill>
          <a:schemeClr val="tx1"/>
        </a:solidFill>
        <a:latin typeface="+mn-lt"/>
        <a:ea typeface="+mn-ea"/>
        <a:cs typeface="+mn-cs"/>
      </a:defRPr>
    </a:lvl2pPr>
    <a:lvl3pPr marL="3507730" algn="l" defTabSz="3507730" rtl="0" eaLnBrk="1" latinLnBrk="1" hangingPunct="1">
      <a:defRPr sz="6905" kern="1200">
        <a:solidFill>
          <a:schemeClr val="tx1"/>
        </a:solidFill>
        <a:latin typeface="+mn-lt"/>
        <a:ea typeface="+mn-ea"/>
        <a:cs typeface="+mn-cs"/>
      </a:defRPr>
    </a:lvl3pPr>
    <a:lvl4pPr marL="5261595" algn="l" defTabSz="3507730" rtl="0" eaLnBrk="1" latinLnBrk="1" hangingPunct="1">
      <a:defRPr sz="6905" kern="1200">
        <a:solidFill>
          <a:schemeClr val="tx1"/>
        </a:solidFill>
        <a:latin typeface="+mn-lt"/>
        <a:ea typeface="+mn-ea"/>
        <a:cs typeface="+mn-cs"/>
      </a:defRPr>
    </a:lvl4pPr>
    <a:lvl5pPr marL="7015460" algn="l" defTabSz="3507730" rtl="0" eaLnBrk="1" latinLnBrk="1" hangingPunct="1">
      <a:defRPr sz="6905" kern="1200">
        <a:solidFill>
          <a:schemeClr val="tx1"/>
        </a:solidFill>
        <a:latin typeface="+mn-lt"/>
        <a:ea typeface="+mn-ea"/>
        <a:cs typeface="+mn-cs"/>
      </a:defRPr>
    </a:lvl5pPr>
    <a:lvl6pPr marL="8769325" algn="l" defTabSz="3507730" rtl="0" eaLnBrk="1" latinLnBrk="1" hangingPunct="1">
      <a:defRPr sz="6905" kern="1200">
        <a:solidFill>
          <a:schemeClr val="tx1"/>
        </a:solidFill>
        <a:latin typeface="+mn-lt"/>
        <a:ea typeface="+mn-ea"/>
        <a:cs typeface="+mn-cs"/>
      </a:defRPr>
    </a:lvl6pPr>
    <a:lvl7pPr marL="10523190" algn="l" defTabSz="3507730" rtl="0" eaLnBrk="1" latinLnBrk="1" hangingPunct="1">
      <a:defRPr sz="6905" kern="1200">
        <a:solidFill>
          <a:schemeClr val="tx1"/>
        </a:solidFill>
        <a:latin typeface="+mn-lt"/>
        <a:ea typeface="+mn-ea"/>
        <a:cs typeface="+mn-cs"/>
      </a:defRPr>
    </a:lvl7pPr>
    <a:lvl8pPr marL="12277054" algn="l" defTabSz="3507730" rtl="0" eaLnBrk="1" latinLnBrk="1" hangingPunct="1">
      <a:defRPr sz="6905" kern="1200">
        <a:solidFill>
          <a:schemeClr val="tx1"/>
        </a:solidFill>
        <a:latin typeface="+mn-lt"/>
        <a:ea typeface="+mn-ea"/>
        <a:cs typeface="+mn-cs"/>
      </a:defRPr>
    </a:lvl8pPr>
    <a:lvl9pPr marL="14030919" algn="l" defTabSz="3507730" rtl="0" eaLnBrk="1" latinLnBrk="1" hangingPunct="1">
      <a:defRPr sz="69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1" userDrawn="1">
          <p15:clr>
            <a:srgbClr val="A4A3A4"/>
          </p15:clr>
        </p15:guide>
        <p15:guide id="2" pos="93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4FF"/>
    <a:srgbClr val="E8EBFF"/>
    <a:srgbClr val="E5ECFD"/>
    <a:srgbClr val="F3FEFF"/>
    <a:srgbClr val="E4EAF8"/>
    <a:srgbClr val="E1E8F9"/>
    <a:srgbClr val="E0F1FD"/>
    <a:srgbClr val="E3EFF7"/>
    <a:srgbClr val="F1F6FB"/>
    <a:srgbClr val="ECF4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4" autoAdjust="0"/>
    <p:restoredTop sz="94660"/>
  </p:normalViewPr>
  <p:slideViewPr>
    <p:cSldViewPr snapToGrid="0">
      <p:cViewPr>
        <p:scale>
          <a:sx n="33" d="100"/>
          <a:sy n="33" d="100"/>
        </p:scale>
        <p:origin x="24" y="-1332"/>
      </p:cViewPr>
      <p:guideLst>
        <p:guide orient="horz" pos="13481"/>
        <p:guide pos="93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 altLang="ko-K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C3B6F-065D-4038-B2E8-321283862D63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6EBF-D17B-402A-B8DE-60C68CC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884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C3B6F-065D-4038-B2E8-321283862D63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6EBF-D17B-402A-B8DE-60C68CC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9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C3B6F-065D-4038-B2E8-321283862D63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6EBF-D17B-402A-B8DE-60C68CC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612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C3B6F-065D-4038-B2E8-321283862D63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6EBF-D17B-402A-B8DE-60C68CC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571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 altLang="ko-KR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 altLang="ko-KR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C3B6F-065D-4038-B2E8-321283862D63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6EBF-D17B-402A-B8DE-60C68CC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070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C3B6F-065D-4038-B2E8-321283862D63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6EBF-D17B-402A-B8DE-60C68CC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4627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C3B6F-065D-4038-B2E8-321283862D63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6EBF-D17B-402A-B8DE-60C68CC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319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 altLang="ko-KR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C3B6F-065D-4038-B2E8-321283862D63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6EBF-D17B-402A-B8DE-60C68CC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778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US" altLang="ko-KR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 altLang="ko-KR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C3B6F-065D-4038-B2E8-321283862D63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6EBF-D17B-402A-B8DE-60C68CC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481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C3B6F-065D-4038-B2E8-321283862D63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6EBF-D17B-402A-B8DE-60C68CC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133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C3B6F-065D-4038-B2E8-321283862D63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6EBF-D17B-402A-B8DE-60C68CC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823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C3B6F-065D-4038-B2E8-321283862D63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F6EBF-D17B-402A-B8DE-60C68CC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134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1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1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8E863-88F5-B6E7-1CCB-24EC79133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D8A9A-B68F-727F-DFCC-CDDFDD3854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969" y="3427172"/>
            <a:ext cx="29177271" cy="1934145"/>
          </a:xfrm>
        </p:spPr>
        <p:txBody>
          <a:bodyPr>
            <a:noAutofit/>
          </a:bodyPr>
          <a:lstStyle/>
          <a:p>
            <a:r>
              <a:rPr lang="en-US" altLang="ko-KR" sz="8000" dirty="0">
                <a:latin typeface="Arial Black" panose="020B0A04020102020204" pitchFamily="34" charset="0"/>
              </a:rPr>
              <a:t>Digital Twin</a:t>
            </a:r>
            <a:endParaRPr lang="ko-KR" altLang="en-US" sz="8000" dirty="0">
              <a:latin typeface="Arial Black" panose="020B0A040201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47CC2E-2E04-5D8E-CB49-4D84AD80E366}"/>
              </a:ext>
            </a:extLst>
          </p:cNvPr>
          <p:cNvSpPr/>
          <p:nvPr/>
        </p:nvSpPr>
        <p:spPr>
          <a:xfrm>
            <a:off x="0" y="0"/>
            <a:ext cx="30275213" cy="328108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06759CA4-185D-1143-7476-C2262EA39D9B}"/>
              </a:ext>
            </a:extLst>
          </p:cNvPr>
          <p:cNvSpPr txBox="1">
            <a:spLocks/>
          </p:cNvSpPr>
          <p:nvPr/>
        </p:nvSpPr>
        <p:spPr>
          <a:xfrm>
            <a:off x="548969" y="4450407"/>
            <a:ext cx="29177271" cy="18470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302748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9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5000" dirty="0"/>
              <a:t>Minsoo Ahn | CSE 327 |  Real-time Vehicle Detection &amp; Traffic Analytics from Live CCTV Streams</a:t>
            </a:r>
            <a:endParaRPr lang="en-US" altLang="ko-KR" sz="5000" dirty="0">
              <a:latin typeface="Arial" panose="020B0604020202020204" pitchFamily="34" charset="0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FC9FDDC-566A-DABB-20FD-B2FAEE45E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76" y="426912"/>
            <a:ext cx="4220538" cy="231670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294C785-803D-FBFC-0586-E9A6D9127287}"/>
              </a:ext>
            </a:extLst>
          </p:cNvPr>
          <p:cNvSpPr/>
          <p:nvPr/>
        </p:nvSpPr>
        <p:spPr>
          <a:xfrm>
            <a:off x="548969" y="6564575"/>
            <a:ext cx="14400000" cy="108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/>
              <a:t>INTRODUCTION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4E6A6DD-5395-0F6C-80CD-9138749C9A42}"/>
              </a:ext>
            </a:extLst>
          </p:cNvPr>
          <p:cNvSpPr/>
          <p:nvPr/>
        </p:nvSpPr>
        <p:spPr>
          <a:xfrm>
            <a:off x="503889" y="17348954"/>
            <a:ext cx="14400000" cy="108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/>
              <a:t>SETTING</a:t>
            </a:r>
          </a:p>
        </p:txBody>
      </p:sp>
      <p:sp>
        <p:nvSpPr>
          <p:cNvPr id="6" name="B52">
            <a:extLst>
              <a:ext uri="{FF2B5EF4-FFF2-40B4-BE49-F238E27FC236}">
                <a16:creationId xmlns:a16="http://schemas.microsoft.com/office/drawing/2014/main" id="{9A788A78-77A4-597B-8FFB-28E7C26E59B4}"/>
              </a:ext>
            </a:extLst>
          </p:cNvPr>
          <p:cNvSpPr txBox="1">
            <a:spLocks/>
          </p:cNvSpPr>
          <p:nvPr/>
        </p:nvSpPr>
        <p:spPr>
          <a:xfrm>
            <a:off x="503889" y="18535310"/>
            <a:ext cx="14400000" cy="6634231"/>
          </a:xfrm>
          <a:prstGeom prst="roundRect">
            <a:avLst>
              <a:gd name="adj" fmla="val 3057"/>
            </a:avLst>
          </a:prstGeom>
          <a:solidFill>
            <a:srgbClr val="EEF2FA"/>
          </a:solidFill>
          <a:ln>
            <a:solidFill>
              <a:schemeClr val="tx1"/>
            </a:solidFill>
          </a:ln>
        </p:spPr>
        <p:txBody>
          <a:bodyPr lIns="144000" tIns="108000" rIns="144000" bIns="108000" anchor="t">
            <a:noAutofit/>
          </a:bodyPr>
          <a:lstStyle/>
          <a:p>
            <a:pPr algn="l">
              <a:lnSpc>
                <a:spcPct val="120000"/>
              </a:lnSpc>
            </a:pPr>
            <a:endParaRPr lang="en-US" sz="4000" dirty="0">
              <a:solidFill>
                <a:srgbClr val="0D1B2A"/>
              </a:solidFill>
              <a:latin typeface="Calibri"/>
            </a:endParaRPr>
          </a:p>
        </p:txBody>
      </p:sp>
      <p:sp>
        <p:nvSpPr>
          <p:cNvPr id="7" name="B52">
            <a:extLst>
              <a:ext uri="{FF2B5EF4-FFF2-40B4-BE49-F238E27FC236}">
                <a16:creationId xmlns:a16="http://schemas.microsoft.com/office/drawing/2014/main" id="{A3F15090-0986-EB52-1938-A28FA9F3A812}"/>
              </a:ext>
            </a:extLst>
          </p:cNvPr>
          <p:cNvSpPr txBox="1">
            <a:spLocks/>
          </p:cNvSpPr>
          <p:nvPr/>
        </p:nvSpPr>
        <p:spPr>
          <a:xfrm>
            <a:off x="503889" y="7822710"/>
            <a:ext cx="14400000" cy="8988782"/>
          </a:xfrm>
          <a:prstGeom prst="roundRect">
            <a:avLst>
              <a:gd name="adj" fmla="val 4465"/>
            </a:avLst>
          </a:prstGeom>
          <a:solidFill>
            <a:srgbClr val="EEF2FA"/>
          </a:solidFill>
          <a:ln>
            <a:solidFill>
              <a:schemeClr val="tx1"/>
            </a:solidFill>
          </a:ln>
        </p:spPr>
        <p:txBody>
          <a:bodyPr lIns="144000" tIns="108000" rIns="144000" bIns="108000" anchor="t">
            <a:noAutofit/>
          </a:bodyPr>
          <a:lstStyle/>
          <a:p>
            <a:pPr algn="l">
              <a:lnSpc>
                <a:spcPct val="120000"/>
              </a:lnSpc>
            </a:pPr>
            <a:endParaRPr lang="en-US" sz="4000" dirty="0">
              <a:solidFill>
                <a:srgbClr val="0D1B2A"/>
              </a:solidFill>
              <a:latin typeface="Calibri"/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3EB1C23F-4C51-2DFA-8106-84531F595FBD}"/>
              </a:ext>
            </a:extLst>
          </p:cNvPr>
          <p:cNvSpPr/>
          <p:nvPr/>
        </p:nvSpPr>
        <p:spPr>
          <a:xfrm>
            <a:off x="503889" y="25296363"/>
            <a:ext cx="14400000" cy="108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/>
              <a:t>Logic &amp; Arch</a:t>
            </a:r>
          </a:p>
        </p:txBody>
      </p:sp>
      <p:sp>
        <p:nvSpPr>
          <p:cNvPr id="10" name="B52">
            <a:extLst>
              <a:ext uri="{FF2B5EF4-FFF2-40B4-BE49-F238E27FC236}">
                <a16:creationId xmlns:a16="http://schemas.microsoft.com/office/drawing/2014/main" id="{34E95ECA-3128-2CDE-718D-A182715E4EA2}"/>
              </a:ext>
            </a:extLst>
          </p:cNvPr>
          <p:cNvSpPr txBox="1">
            <a:spLocks/>
          </p:cNvSpPr>
          <p:nvPr/>
        </p:nvSpPr>
        <p:spPr>
          <a:xfrm>
            <a:off x="448401" y="26563632"/>
            <a:ext cx="14400000" cy="7716029"/>
          </a:xfrm>
          <a:prstGeom prst="roundRect">
            <a:avLst>
              <a:gd name="adj" fmla="val 3057"/>
            </a:avLst>
          </a:prstGeom>
          <a:solidFill>
            <a:srgbClr val="EEF2FA"/>
          </a:solidFill>
          <a:ln>
            <a:solidFill>
              <a:schemeClr val="tx1"/>
            </a:solidFill>
          </a:ln>
        </p:spPr>
        <p:txBody>
          <a:bodyPr lIns="144000" tIns="108000" rIns="144000" bIns="108000" anchor="t">
            <a:noAutofit/>
          </a:bodyPr>
          <a:lstStyle/>
          <a:p>
            <a:pPr algn="l">
              <a:lnSpc>
                <a:spcPct val="120000"/>
              </a:lnSpc>
            </a:pPr>
            <a:endParaRPr lang="en-US" sz="4000" dirty="0">
              <a:solidFill>
                <a:srgbClr val="0D1B2A"/>
              </a:solidFill>
              <a:latin typeface="Calibri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8A42FEA6-42DC-BF61-DB53-C83A12824380}"/>
              </a:ext>
            </a:extLst>
          </p:cNvPr>
          <p:cNvSpPr/>
          <p:nvPr/>
        </p:nvSpPr>
        <p:spPr>
          <a:xfrm>
            <a:off x="15426812" y="6539910"/>
            <a:ext cx="14400000" cy="108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/>
              <a:t>Demo</a:t>
            </a:r>
          </a:p>
        </p:txBody>
      </p:sp>
      <p:sp>
        <p:nvSpPr>
          <p:cNvPr id="12" name="B52">
            <a:extLst>
              <a:ext uri="{FF2B5EF4-FFF2-40B4-BE49-F238E27FC236}">
                <a16:creationId xmlns:a16="http://schemas.microsoft.com/office/drawing/2014/main" id="{3171505B-4AFB-41BD-8EF9-A77A0D0BD452}"/>
              </a:ext>
            </a:extLst>
          </p:cNvPr>
          <p:cNvSpPr txBox="1">
            <a:spLocks/>
          </p:cNvSpPr>
          <p:nvPr/>
        </p:nvSpPr>
        <p:spPr>
          <a:xfrm>
            <a:off x="15426812" y="7822710"/>
            <a:ext cx="14400000" cy="28965748"/>
          </a:xfrm>
          <a:prstGeom prst="roundRect">
            <a:avLst>
              <a:gd name="adj" fmla="val 4465"/>
            </a:avLst>
          </a:prstGeom>
          <a:solidFill>
            <a:srgbClr val="EEF2FA"/>
          </a:solidFill>
          <a:ln>
            <a:solidFill>
              <a:schemeClr val="tx1"/>
            </a:solidFill>
          </a:ln>
        </p:spPr>
        <p:txBody>
          <a:bodyPr lIns="144000" tIns="108000" rIns="144000" bIns="108000" anchor="t">
            <a:noAutofit/>
          </a:bodyPr>
          <a:lstStyle/>
          <a:p>
            <a:pPr algn="l">
              <a:lnSpc>
                <a:spcPct val="120000"/>
              </a:lnSpc>
            </a:pPr>
            <a:endParaRPr lang="en-US" sz="4000" dirty="0">
              <a:solidFill>
                <a:srgbClr val="0D1B2A"/>
              </a:solidFill>
              <a:latin typeface="Calibri"/>
            </a:endParaRP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FFDCEEDD-CFD1-2989-C7EB-64291A7FFC41}"/>
              </a:ext>
            </a:extLst>
          </p:cNvPr>
          <p:cNvSpPr/>
          <p:nvPr/>
        </p:nvSpPr>
        <p:spPr>
          <a:xfrm>
            <a:off x="448401" y="34511041"/>
            <a:ext cx="14400000" cy="108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/>
              <a:t>Result &amp; Limitation</a:t>
            </a: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EEE63603-EB31-C974-90DA-7F9F8A26BA18}"/>
              </a:ext>
            </a:extLst>
          </p:cNvPr>
          <p:cNvSpPr/>
          <p:nvPr/>
        </p:nvSpPr>
        <p:spPr>
          <a:xfrm>
            <a:off x="15426812" y="37030907"/>
            <a:ext cx="14400000" cy="108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/>
              <a:t>Reference</a:t>
            </a:r>
          </a:p>
        </p:txBody>
      </p:sp>
      <p:sp>
        <p:nvSpPr>
          <p:cNvPr id="16" name="B52">
            <a:extLst>
              <a:ext uri="{FF2B5EF4-FFF2-40B4-BE49-F238E27FC236}">
                <a16:creationId xmlns:a16="http://schemas.microsoft.com/office/drawing/2014/main" id="{E4488E1C-BD86-5630-B7EE-D48D065E14F6}"/>
              </a:ext>
            </a:extLst>
          </p:cNvPr>
          <p:cNvSpPr txBox="1">
            <a:spLocks/>
          </p:cNvSpPr>
          <p:nvPr/>
        </p:nvSpPr>
        <p:spPr>
          <a:xfrm>
            <a:off x="15426812" y="38353355"/>
            <a:ext cx="14400000" cy="4033509"/>
          </a:xfrm>
          <a:prstGeom prst="roundRect">
            <a:avLst>
              <a:gd name="adj" fmla="val 3057"/>
            </a:avLst>
          </a:prstGeom>
          <a:solidFill>
            <a:srgbClr val="EEF2FA"/>
          </a:solidFill>
          <a:ln>
            <a:solidFill>
              <a:schemeClr val="tx1"/>
            </a:solidFill>
          </a:ln>
        </p:spPr>
        <p:txBody>
          <a:bodyPr lIns="144000" tIns="108000" rIns="144000" bIns="108000" anchor="t">
            <a:noAutofit/>
          </a:bodyPr>
          <a:lstStyle/>
          <a:p>
            <a:pPr algn="l">
              <a:lnSpc>
                <a:spcPct val="120000"/>
              </a:lnSpc>
            </a:pPr>
            <a:endParaRPr lang="en-US" sz="4000" dirty="0">
              <a:solidFill>
                <a:srgbClr val="0D1B2A"/>
              </a:solidFill>
              <a:latin typeface="Calibri"/>
            </a:endParaRPr>
          </a:p>
        </p:txBody>
      </p:sp>
      <p:pic>
        <p:nvPicPr>
          <p:cNvPr id="17" name="P60">
            <a:extLst>
              <a:ext uri="{FF2B5EF4-FFF2-40B4-BE49-F238E27FC236}">
                <a16:creationId xmlns:a16="http://schemas.microsoft.com/office/drawing/2014/main" id="{1805EE51-CBB1-4D48-BAB1-26B3899FE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2770" y="9653898"/>
            <a:ext cx="8700056" cy="5976668"/>
          </a:xfrm>
          <a:prstGeom prst="rect">
            <a:avLst/>
          </a:prstGeom>
        </p:spPr>
      </p:pic>
      <p:pic>
        <p:nvPicPr>
          <p:cNvPr id="20" name="P63">
            <a:extLst>
              <a:ext uri="{FF2B5EF4-FFF2-40B4-BE49-F238E27FC236}">
                <a16:creationId xmlns:a16="http://schemas.microsoft.com/office/drawing/2014/main" id="{97C9AAB2-49F2-2188-6E5B-4ABD2271DB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176"/>
          <a:stretch>
            <a:fillRect/>
          </a:stretch>
        </p:blipFill>
        <p:spPr>
          <a:xfrm>
            <a:off x="16008612" y="16193794"/>
            <a:ext cx="5317525" cy="5554850"/>
          </a:xfrm>
          <a:prstGeom prst="rect">
            <a:avLst/>
          </a:prstGeom>
        </p:spPr>
      </p:pic>
      <p:pic>
        <p:nvPicPr>
          <p:cNvPr id="21" name="P66">
            <a:extLst>
              <a:ext uri="{FF2B5EF4-FFF2-40B4-BE49-F238E27FC236}">
                <a16:creationId xmlns:a16="http://schemas.microsoft.com/office/drawing/2014/main" id="{F692A3B0-2347-E0AE-E0BC-6629A89AD9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42914" y="16465725"/>
            <a:ext cx="7067121" cy="5198459"/>
          </a:xfrm>
          <a:prstGeom prst="rect">
            <a:avLst/>
          </a:prstGeom>
        </p:spPr>
      </p:pic>
      <p:sp>
        <p:nvSpPr>
          <p:cNvPr id="22" name="B52">
            <a:extLst>
              <a:ext uri="{FF2B5EF4-FFF2-40B4-BE49-F238E27FC236}">
                <a16:creationId xmlns:a16="http://schemas.microsoft.com/office/drawing/2014/main" id="{7FA1CFC6-0D6E-6322-09BE-8F303E630868}"/>
              </a:ext>
            </a:extLst>
          </p:cNvPr>
          <p:cNvSpPr txBox="1">
            <a:spLocks/>
          </p:cNvSpPr>
          <p:nvPr/>
        </p:nvSpPr>
        <p:spPr>
          <a:xfrm>
            <a:off x="448401" y="35769175"/>
            <a:ext cx="14400000" cy="6617689"/>
          </a:xfrm>
          <a:prstGeom prst="roundRect">
            <a:avLst>
              <a:gd name="adj" fmla="val 4465"/>
            </a:avLst>
          </a:prstGeom>
          <a:solidFill>
            <a:srgbClr val="EEF2FA"/>
          </a:solidFill>
          <a:ln>
            <a:solidFill>
              <a:schemeClr val="tx1"/>
            </a:solidFill>
          </a:ln>
        </p:spPr>
        <p:txBody>
          <a:bodyPr lIns="144000" tIns="108000" rIns="144000" bIns="108000" anchor="t">
            <a:noAutofit/>
          </a:bodyPr>
          <a:lstStyle/>
          <a:p>
            <a:pPr algn="l">
              <a:lnSpc>
                <a:spcPct val="120000"/>
              </a:lnSpc>
            </a:pPr>
            <a:endParaRPr lang="en-US" dirty="0"/>
          </a:p>
        </p:txBody>
      </p:sp>
      <p:pic>
        <p:nvPicPr>
          <p:cNvPr id="23" name="P69">
            <a:extLst>
              <a:ext uri="{FF2B5EF4-FFF2-40B4-BE49-F238E27FC236}">
                <a16:creationId xmlns:a16="http://schemas.microsoft.com/office/drawing/2014/main" id="{2FE1AB4B-D147-47F7-BE83-388B53858C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8612" y="22236363"/>
            <a:ext cx="5669158" cy="7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579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342</TotalTime>
  <Words>28</Words>
  <Application>Microsoft Office PowerPoint</Application>
  <PresentationFormat>사용자 지정</PresentationFormat>
  <Paragraphs>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Office Theme</vt:lpstr>
      <vt:lpstr>Digital Twin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Title Research Title</dc:title>
  <dc:creator>SUNY Korea</dc:creator>
  <cp:lastModifiedBy>Minsoo Ahn</cp:lastModifiedBy>
  <cp:revision>11</cp:revision>
  <dcterms:created xsi:type="dcterms:W3CDTF">2024-10-30T09:13:46Z</dcterms:created>
  <dcterms:modified xsi:type="dcterms:W3CDTF">2026-05-17T20:07:58Z</dcterms:modified>
</cp:coreProperties>
</file>