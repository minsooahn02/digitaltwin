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9" r:id="rId2"/>
  </p:sldIdLst>
  <p:sldSz cx="30275213" cy="42803763"/>
  <p:notesSz cx="6858000" cy="9144000"/>
  <p:defaultTextStyle>
    <a:defPPr>
      <a:defRPr lang="ko-KR"/>
    </a:defPPr>
    <a:lvl1pPr marL="0" algn="l" defTabSz="3507208" rtl="0" eaLnBrk="1" latinLnBrk="1" hangingPunct="1">
      <a:defRPr sz="6904" kern="1200">
        <a:solidFill>
          <a:schemeClr val="tx1"/>
        </a:solidFill>
        <a:latin typeface="+mn-lt"/>
        <a:ea typeface="+mn-ea"/>
        <a:cs typeface="+mn-cs"/>
      </a:defRPr>
    </a:lvl1pPr>
    <a:lvl2pPr marL="1753604" algn="l" defTabSz="3507208" rtl="0" eaLnBrk="1" latinLnBrk="1" hangingPunct="1">
      <a:defRPr sz="6904" kern="1200">
        <a:solidFill>
          <a:schemeClr val="tx1"/>
        </a:solidFill>
        <a:latin typeface="+mn-lt"/>
        <a:ea typeface="+mn-ea"/>
        <a:cs typeface="+mn-cs"/>
      </a:defRPr>
    </a:lvl2pPr>
    <a:lvl3pPr marL="3507208" algn="l" defTabSz="3507208" rtl="0" eaLnBrk="1" latinLnBrk="1" hangingPunct="1">
      <a:defRPr sz="6904" kern="1200">
        <a:solidFill>
          <a:schemeClr val="tx1"/>
        </a:solidFill>
        <a:latin typeface="+mn-lt"/>
        <a:ea typeface="+mn-ea"/>
        <a:cs typeface="+mn-cs"/>
      </a:defRPr>
    </a:lvl3pPr>
    <a:lvl4pPr marL="5260811" algn="l" defTabSz="3507208" rtl="0" eaLnBrk="1" latinLnBrk="1" hangingPunct="1">
      <a:defRPr sz="6904" kern="1200">
        <a:solidFill>
          <a:schemeClr val="tx1"/>
        </a:solidFill>
        <a:latin typeface="+mn-lt"/>
        <a:ea typeface="+mn-ea"/>
        <a:cs typeface="+mn-cs"/>
      </a:defRPr>
    </a:lvl4pPr>
    <a:lvl5pPr marL="7014415" algn="l" defTabSz="3507208" rtl="0" eaLnBrk="1" latinLnBrk="1" hangingPunct="1">
      <a:defRPr sz="6904" kern="1200">
        <a:solidFill>
          <a:schemeClr val="tx1"/>
        </a:solidFill>
        <a:latin typeface="+mn-lt"/>
        <a:ea typeface="+mn-ea"/>
        <a:cs typeface="+mn-cs"/>
      </a:defRPr>
    </a:lvl5pPr>
    <a:lvl6pPr marL="8768019" algn="l" defTabSz="3507208" rtl="0" eaLnBrk="1" latinLnBrk="1" hangingPunct="1">
      <a:defRPr sz="6904" kern="1200">
        <a:solidFill>
          <a:schemeClr val="tx1"/>
        </a:solidFill>
        <a:latin typeface="+mn-lt"/>
        <a:ea typeface="+mn-ea"/>
        <a:cs typeface="+mn-cs"/>
      </a:defRPr>
    </a:lvl6pPr>
    <a:lvl7pPr marL="10521623" algn="l" defTabSz="3507208" rtl="0" eaLnBrk="1" latinLnBrk="1" hangingPunct="1">
      <a:defRPr sz="6904" kern="1200">
        <a:solidFill>
          <a:schemeClr val="tx1"/>
        </a:solidFill>
        <a:latin typeface="+mn-lt"/>
        <a:ea typeface="+mn-ea"/>
        <a:cs typeface="+mn-cs"/>
      </a:defRPr>
    </a:lvl7pPr>
    <a:lvl8pPr marL="12275226" algn="l" defTabSz="3507208" rtl="0" eaLnBrk="1" latinLnBrk="1" hangingPunct="1">
      <a:defRPr sz="6904" kern="1200">
        <a:solidFill>
          <a:schemeClr val="tx1"/>
        </a:solidFill>
        <a:latin typeface="+mn-lt"/>
        <a:ea typeface="+mn-ea"/>
        <a:cs typeface="+mn-cs"/>
      </a:defRPr>
    </a:lvl8pPr>
    <a:lvl9pPr marL="14028829" algn="l" defTabSz="3507208" rtl="0" eaLnBrk="1" latinLnBrk="1" hangingPunct="1">
      <a:defRPr sz="690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481" userDrawn="1">
          <p15:clr>
            <a:srgbClr val="A4A3A4"/>
          </p15:clr>
        </p15:guide>
        <p15:guide id="2" pos="939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447C"/>
    <a:srgbClr val="54A4CD"/>
    <a:srgbClr val="002060"/>
    <a:srgbClr val="EDF4FF"/>
    <a:srgbClr val="E8EBFF"/>
    <a:srgbClr val="E5ECFD"/>
    <a:srgbClr val="F3FEFF"/>
    <a:srgbClr val="E4EAF8"/>
    <a:srgbClr val="E1E8F9"/>
    <a:srgbClr val="E0F1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C083E6E3-FA7D-4D7B-A595-EF9225AFEA82}" styleName="밝은 스타일 1 - 강조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68" autoAdjust="0"/>
    <p:restoredTop sz="94660"/>
  </p:normalViewPr>
  <p:slideViewPr>
    <p:cSldViewPr snapToGrid="0">
      <p:cViewPr varScale="1">
        <p:scale>
          <a:sx n="18" d="100"/>
          <a:sy n="18" d="100"/>
        </p:scale>
        <p:origin x="1780" y="104"/>
      </p:cViewPr>
      <p:guideLst>
        <p:guide orient="horz" pos="13481"/>
        <p:guide pos="939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642" y="7005156"/>
            <a:ext cx="25733931" cy="14902051"/>
          </a:xfrm>
        </p:spPr>
        <p:txBody>
          <a:bodyPr anchor="b"/>
          <a:lstStyle>
            <a:lvl1pPr algn="ctr">
              <a:defRPr sz="19865"/>
            </a:lvl1pPr>
          </a:lstStyle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4402" y="22481888"/>
            <a:ext cx="22706410" cy="10334331"/>
          </a:xfrm>
        </p:spPr>
        <p:txBody>
          <a:bodyPr/>
          <a:lstStyle>
            <a:lvl1pPr marL="0" indent="0" algn="ctr">
              <a:buNone/>
              <a:defRPr sz="7946"/>
            </a:lvl1pPr>
            <a:lvl2pPr marL="1513743" indent="0" algn="ctr">
              <a:buNone/>
              <a:defRPr sz="6622"/>
            </a:lvl2pPr>
            <a:lvl3pPr marL="3027487" indent="0" algn="ctr">
              <a:buNone/>
              <a:defRPr sz="5960"/>
            </a:lvl3pPr>
            <a:lvl4pPr marL="4541230" indent="0" algn="ctr">
              <a:buNone/>
              <a:defRPr sz="5297"/>
            </a:lvl4pPr>
            <a:lvl5pPr marL="6054974" indent="0" algn="ctr">
              <a:buNone/>
              <a:defRPr sz="5297"/>
            </a:lvl5pPr>
            <a:lvl6pPr marL="7568717" indent="0" algn="ctr">
              <a:buNone/>
              <a:defRPr sz="5297"/>
            </a:lvl6pPr>
            <a:lvl7pPr marL="9082461" indent="0" algn="ctr">
              <a:buNone/>
              <a:defRPr sz="5297"/>
            </a:lvl7pPr>
            <a:lvl8pPr marL="10596204" indent="0" algn="ctr">
              <a:buNone/>
              <a:defRPr sz="5297"/>
            </a:lvl8pPr>
            <a:lvl9pPr marL="12109948" indent="0" algn="ctr">
              <a:buNone/>
              <a:defRPr sz="5297"/>
            </a:lvl9pPr>
          </a:lstStyle>
          <a:p>
            <a:r>
              <a:rPr lang="en-US" altLang="ko-KR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C3B6F-065D-4038-B2E8-321283862D63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F6EBF-D17B-402A-B8DE-60C68CCEA1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68847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ko-KR"/>
              <a:t>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C3B6F-065D-4038-B2E8-321283862D63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F6EBF-D17B-402A-B8DE-60C68CCEA1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31191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5654" y="10671230"/>
            <a:ext cx="26112371" cy="17805173"/>
          </a:xfrm>
        </p:spPr>
        <p:txBody>
          <a:bodyPr anchor="b"/>
          <a:lstStyle>
            <a:lvl1pPr>
              <a:defRPr sz="19865"/>
            </a:lvl1pPr>
          </a:lstStyle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5654" y="28644846"/>
            <a:ext cx="26112371" cy="9363320"/>
          </a:xfrm>
        </p:spPr>
        <p:txBody>
          <a:bodyPr/>
          <a:lstStyle>
            <a:lvl1pPr marL="0" indent="0">
              <a:buNone/>
              <a:defRPr sz="7946">
                <a:solidFill>
                  <a:schemeClr val="tx1"/>
                </a:solidFill>
              </a:defRPr>
            </a:lvl1pPr>
            <a:lvl2pPr marL="1513743" indent="0">
              <a:buNone/>
              <a:defRPr sz="6622">
                <a:solidFill>
                  <a:schemeClr val="tx1">
                    <a:tint val="75000"/>
                  </a:schemeClr>
                </a:solidFill>
              </a:defRPr>
            </a:lvl2pPr>
            <a:lvl3pPr marL="3027487" indent="0">
              <a:buNone/>
              <a:defRPr sz="5960">
                <a:solidFill>
                  <a:schemeClr val="tx1">
                    <a:tint val="75000"/>
                  </a:schemeClr>
                </a:solidFill>
              </a:defRPr>
            </a:lvl3pPr>
            <a:lvl4pPr marL="4541230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4pPr>
            <a:lvl5pPr marL="6054974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5pPr>
            <a:lvl6pPr marL="7568717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6pPr>
            <a:lvl7pPr marL="9082461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7pPr>
            <a:lvl8pPr marL="10596204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8pPr>
            <a:lvl9pPr marL="12109948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C3B6F-065D-4038-B2E8-321283862D63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F6EBF-D17B-402A-B8DE-60C68CCEA1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46129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81421" y="11394520"/>
            <a:ext cx="12866966" cy="27158594"/>
          </a:xfrm>
        </p:spPr>
        <p:txBody>
          <a:bodyPr/>
          <a:lstStyle/>
          <a:p>
            <a:pPr lvl="0"/>
            <a:r>
              <a:rPr lang="en-US" altLang="ko-KR"/>
              <a:t>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26826" y="11394520"/>
            <a:ext cx="12866966" cy="27158594"/>
          </a:xfrm>
        </p:spPr>
        <p:txBody>
          <a:bodyPr/>
          <a:lstStyle/>
          <a:p>
            <a:pPr lvl="0"/>
            <a:r>
              <a:rPr lang="en-US" altLang="ko-KR"/>
              <a:t>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C3B6F-065D-4038-B2E8-321283862D63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F6EBF-D17B-402A-B8DE-60C68CCEA1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4571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278914"/>
            <a:ext cx="26112371" cy="8273416"/>
          </a:xfrm>
        </p:spPr>
        <p:txBody>
          <a:bodyPr/>
          <a:lstStyle/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5368" y="10492871"/>
            <a:ext cx="12807832" cy="5142393"/>
          </a:xfrm>
        </p:spPr>
        <p:txBody>
          <a:bodyPr anchor="b"/>
          <a:lstStyle>
            <a:lvl1pPr marL="0" indent="0">
              <a:buNone/>
              <a:defRPr sz="7946" b="1"/>
            </a:lvl1pPr>
            <a:lvl2pPr marL="1513743" indent="0">
              <a:buNone/>
              <a:defRPr sz="6622" b="1"/>
            </a:lvl2pPr>
            <a:lvl3pPr marL="3027487" indent="0">
              <a:buNone/>
              <a:defRPr sz="5960" b="1"/>
            </a:lvl3pPr>
            <a:lvl4pPr marL="4541230" indent="0">
              <a:buNone/>
              <a:defRPr sz="5297" b="1"/>
            </a:lvl4pPr>
            <a:lvl5pPr marL="6054974" indent="0">
              <a:buNone/>
              <a:defRPr sz="5297" b="1"/>
            </a:lvl5pPr>
            <a:lvl6pPr marL="7568717" indent="0">
              <a:buNone/>
              <a:defRPr sz="5297" b="1"/>
            </a:lvl6pPr>
            <a:lvl7pPr marL="9082461" indent="0">
              <a:buNone/>
              <a:defRPr sz="5297" b="1"/>
            </a:lvl7pPr>
            <a:lvl8pPr marL="10596204" indent="0">
              <a:buNone/>
              <a:defRPr sz="5297" b="1"/>
            </a:lvl8pPr>
            <a:lvl9pPr marL="12109948" indent="0">
              <a:buNone/>
              <a:defRPr sz="5297" b="1"/>
            </a:lvl9pPr>
          </a:lstStyle>
          <a:p>
            <a:pPr lvl="0"/>
            <a:r>
              <a:rPr lang="en-US" altLang="ko-KR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5368" y="15635265"/>
            <a:ext cx="12807832" cy="22997117"/>
          </a:xfrm>
        </p:spPr>
        <p:txBody>
          <a:bodyPr/>
          <a:lstStyle/>
          <a:p>
            <a:pPr lvl="0"/>
            <a:r>
              <a:rPr lang="en-US" altLang="ko-KR"/>
              <a:t>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26828" y="10492871"/>
            <a:ext cx="12870909" cy="5142393"/>
          </a:xfrm>
        </p:spPr>
        <p:txBody>
          <a:bodyPr anchor="b"/>
          <a:lstStyle>
            <a:lvl1pPr marL="0" indent="0">
              <a:buNone/>
              <a:defRPr sz="7946" b="1"/>
            </a:lvl1pPr>
            <a:lvl2pPr marL="1513743" indent="0">
              <a:buNone/>
              <a:defRPr sz="6622" b="1"/>
            </a:lvl2pPr>
            <a:lvl3pPr marL="3027487" indent="0">
              <a:buNone/>
              <a:defRPr sz="5960" b="1"/>
            </a:lvl3pPr>
            <a:lvl4pPr marL="4541230" indent="0">
              <a:buNone/>
              <a:defRPr sz="5297" b="1"/>
            </a:lvl4pPr>
            <a:lvl5pPr marL="6054974" indent="0">
              <a:buNone/>
              <a:defRPr sz="5297" b="1"/>
            </a:lvl5pPr>
            <a:lvl6pPr marL="7568717" indent="0">
              <a:buNone/>
              <a:defRPr sz="5297" b="1"/>
            </a:lvl6pPr>
            <a:lvl7pPr marL="9082461" indent="0">
              <a:buNone/>
              <a:defRPr sz="5297" b="1"/>
            </a:lvl7pPr>
            <a:lvl8pPr marL="10596204" indent="0">
              <a:buNone/>
              <a:defRPr sz="5297" b="1"/>
            </a:lvl8pPr>
            <a:lvl9pPr marL="12109948" indent="0">
              <a:buNone/>
              <a:defRPr sz="5297" b="1"/>
            </a:lvl9pPr>
          </a:lstStyle>
          <a:p>
            <a:pPr lvl="0"/>
            <a:r>
              <a:rPr lang="en-US" altLang="ko-KR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26828" y="15635265"/>
            <a:ext cx="12870909" cy="22997117"/>
          </a:xfrm>
        </p:spPr>
        <p:txBody>
          <a:bodyPr/>
          <a:lstStyle/>
          <a:p>
            <a:pPr lvl="0"/>
            <a:r>
              <a:rPr lang="en-US" altLang="ko-KR"/>
              <a:t>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C3B6F-065D-4038-B2E8-321283862D63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F6EBF-D17B-402A-B8DE-60C68CCEA1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80702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C3B6F-065D-4038-B2E8-321283862D63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F6EBF-D17B-402A-B8DE-60C68CCEA1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4627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C3B6F-065D-4038-B2E8-321283862D63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F6EBF-D17B-402A-B8DE-60C68CCEA1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73199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3585"/>
            <a:ext cx="9764544" cy="9987545"/>
          </a:xfrm>
        </p:spPr>
        <p:txBody>
          <a:bodyPr anchor="b"/>
          <a:lstStyle>
            <a:lvl1pPr>
              <a:defRPr sz="10595"/>
            </a:lvl1pPr>
          </a:lstStyle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909" y="6162960"/>
            <a:ext cx="15326827" cy="30418415"/>
          </a:xfrm>
        </p:spPr>
        <p:txBody>
          <a:bodyPr/>
          <a:lstStyle>
            <a:lvl1pPr>
              <a:defRPr sz="10595"/>
            </a:lvl1pPr>
            <a:lvl2pPr>
              <a:defRPr sz="9271"/>
            </a:lvl2pPr>
            <a:lvl3pPr>
              <a:defRPr sz="7946"/>
            </a:lvl3pPr>
            <a:lvl4pPr>
              <a:defRPr sz="6622"/>
            </a:lvl4pPr>
            <a:lvl5pPr>
              <a:defRPr sz="6622"/>
            </a:lvl5pPr>
            <a:lvl6pPr>
              <a:defRPr sz="6622"/>
            </a:lvl6pPr>
            <a:lvl7pPr>
              <a:defRPr sz="6622"/>
            </a:lvl7pPr>
            <a:lvl8pPr>
              <a:defRPr sz="6622"/>
            </a:lvl8pPr>
            <a:lvl9pPr>
              <a:defRPr sz="6622"/>
            </a:lvl9pPr>
          </a:lstStyle>
          <a:p>
            <a:pPr lvl="0"/>
            <a:r>
              <a:rPr lang="en-US" altLang="ko-KR"/>
              <a:t>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297"/>
            </a:lvl1pPr>
            <a:lvl2pPr marL="1513743" indent="0">
              <a:buNone/>
              <a:defRPr sz="4635"/>
            </a:lvl2pPr>
            <a:lvl3pPr marL="3027487" indent="0">
              <a:buNone/>
              <a:defRPr sz="3973"/>
            </a:lvl3pPr>
            <a:lvl4pPr marL="4541230" indent="0">
              <a:buNone/>
              <a:defRPr sz="3311"/>
            </a:lvl4pPr>
            <a:lvl5pPr marL="6054974" indent="0">
              <a:buNone/>
              <a:defRPr sz="3311"/>
            </a:lvl5pPr>
            <a:lvl6pPr marL="7568717" indent="0">
              <a:buNone/>
              <a:defRPr sz="3311"/>
            </a:lvl6pPr>
            <a:lvl7pPr marL="9082461" indent="0">
              <a:buNone/>
              <a:defRPr sz="3311"/>
            </a:lvl7pPr>
            <a:lvl8pPr marL="10596204" indent="0">
              <a:buNone/>
              <a:defRPr sz="3311"/>
            </a:lvl8pPr>
            <a:lvl9pPr marL="12109948" indent="0">
              <a:buNone/>
              <a:defRPr sz="3311"/>
            </a:lvl9pPr>
          </a:lstStyle>
          <a:p>
            <a:pPr lvl="0"/>
            <a:r>
              <a:rPr lang="en-US" altLang="ko-KR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C3B6F-065D-4038-B2E8-321283862D63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F6EBF-D17B-402A-B8DE-60C68CCEA1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87784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3585"/>
            <a:ext cx="9764544" cy="9987545"/>
          </a:xfrm>
        </p:spPr>
        <p:txBody>
          <a:bodyPr anchor="b"/>
          <a:lstStyle>
            <a:lvl1pPr>
              <a:defRPr sz="10595"/>
            </a:lvl1pPr>
          </a:lstStyle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70909" y="6162960"/>
            <a:ext cx="15326827" cy="30418415"/>
          </a:xfrm>
        </p:spPr>
        <p:txBody>
          <a:bodyPr anchor="t"/>
          <a:lstStyle>
            <a:lvl1pPr marL="0" indent="0">
              <a:buNone/>
              <a:defRPr sz="10595"/>
            </a:lvl1pPr>
            <a:lvl2pPr marL="1513743" indent="0">
              <a:buNone/>
              <a:defRPr sz="9271"/>
            </a:lvl2pPr>
            <a:lvl3pPr marL="3027487" indent="0">
              <a:buNone/>
              <a:defRPr sz="7946"/>
            </a:lvl3pPr>
            <a:lvl4pPr marL="4541230" indent="0">
              <a:buNone/>
              <a:defRPr sz="6622"/>
            </a:lvl4pPr>
            <a:lvl5pPr marL="6054974" indent="0">
              <a:buNone/>
              <a:defRPr sz="6622"/>
            </a:lvl5pPr>
            <a:lvl6pPr marL="7568717" indent="0">
              <a:buNone/>
              <a:defRPr sz="6622"/>
            </a:lvl6pPr>
            <a:lvl7pPr marL="9082461" indent="0">
              <a:buNone/>
              <a:defRPr sz="6622"/>
            </a:lvl7pPr>
            <a:lvl8pPr marL="10596204" indent="0">
              <a:buNone/>
              <a:defRPr sz="6622"/>
            </a:lvl8pPr>
            <a:lvl9pPr marL="12109948" indent="0">
              <a:buNone/>
              <a:defRPr sz="6622"/>
            </a:lvl9pPr>
          </a:lstStyle>
          <a:p>
            <a:r>
              <a:rPr lang="en-US" altLang="ko-KR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297"/>
            </a:lvl1pPr>
            <a:lvl2pPr marL="1513743" indent="0">
              <a:buNone/>
              <a:defRPr sz="4635"/>
            </a:lvl2pPr>
            <a:lvl3pPr marL="3027487" indent="0">
              <a:buNone/>
              <a:defRPr sz="3973"/>
            </a:lvl3pPr>
            <a:lvl4pPr marL="4541230" indent="0">
              <a:buNone/>
              <a:defRPr sz="3311"/>
            </a:lvl4pPr>
            <a:lvl5pPr marL="6054974" indent="0">
              <a:buNone/>
              <a:defRPr sz="3311"/>
            </a:lvl5pPr>
            <a:lvl6pPr marL="7568717" indent="0">
              <a:buNone/>
              <a:defRPr sz="3311"/>
            </a:lvl6pPr>
            <a:lvl7pPr marL="9082461" indent="0">
              <a:buNone/>
              <a:defRPr sz="3311"/>
            </a:lvl7pPr>
            <a:lvl8pPr marL="10596204" indent="0">
              <a:buNone/>
              <a:defRPr sz="3311"/>
            </a:lvl8pPr>
            <a:lvl9pPr marL="12109948" indent="0">
              <a:buNone/>
              <a:defRPr sz="3311"/>
            </a:lvl9pPr>
          </a:lstStyle>
          <a:p>
            <a:pPr lvl="0"/>
            <a:r>
              <a:rPr lang="en-US" altLang="ko-KR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C3B6F-065D-4038-B2E8-321283862D63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F6EBF-D17B-402A-B8DE-60C68CCEA1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5481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/>
              <a:t>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C3B6F-065D-4038-B2E8-321283862D63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F6EBF-D17B-402A-B8DE-60C68CCEA1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61335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665702" y="2278905"/>
            <a:ext cx="6528093" cy="36274211"/>
          </a:xfrm>
        </p:spPr>
        <p:txBody>
          <a:bodyPr vert="eaVert"/>
          <a:lstStyle/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81423" y="2278905"/>
            <a:ext cx="19205838" cy="36274211"/>
          </a:xfrm>
        </p:spPr>
        <p:txBody>
          <a:bodyPr vert="eaVert"/>
          <a:lstStyle/>
          <a:p>
            <a:pPr lvl="0"/>
            <a:r>
              <a:rPr lang="en-US" altLang="ko-KR"/>
              <a:t>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C3B6F-065D-4038-B2E8-321283862D63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F6EBF-D17B-402A-B8DE-60C68CCEA1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8235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81422" y="2278914"/>
            <a:ext cx="26112371" cy="827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1422" y="11394520"/>
            <a:ext cx="26112371" cy="271585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/>
              <a:t>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81422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9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CC3B6F-065D-4038-B2E8-321283862D63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28665" y="39672756"/>
            <a:ext cx="10217884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9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81869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9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1F6EBF-D17B-402A-B8DE-60C68CCEA1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31348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027487" rtl="0" eaLnBrk="1" latinLnBrk="1" hangingPunct="1">
        <a:lnSpc>
          <a:spcPct val="90000"/>
        </a:lnSpc>
        <a:spcBef>
          <a:spcPct val="0"/>
        </a:spcBef>
        <a:buNone/>
        <a:defRPr sz="1456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56872" indent="-756872" algn="l" defTabSz="3027487" rtl="0" eaLnBrk="1" latinLnBrk="1" hangingPunct="1">
        <a:lnSpc>
          <a:spcPct val="90000"/>
        </a:lnSpc>
        <a:spcBef>
          <a:spcPts val="3311"/>
        </a:spcBef>
        <a:buFont typeface="Arial" panose="020B0604020202020204" pitchFamily="34" charset="0"/>
        <a:buChar char="•"/>
        <a:defRPr sz="9271" kern="1200">
          <a:solidFill>
            <a:schemeClr val="tx1"/>
          </a:solidFill>
          <a:latin typeface="+mn-lt"/>
          <a:ea typeface="+mn-ea"/>
          <a:cs typeface="+mn-cs"/>
        </a:defRPr>
      </a:lvl1pPr>
      <a:lvl2pPr marL="2270615" indent="-756872" algn="l" defTabSz="3027487" rtl="0" eaLnBrk="1" latinLnBrk="1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7946" kern="1200">
          <a:solidFill>
            <a:schemeClr val="tx1"/>
          </a:solidFill>
          <a:latin typeface="+mn-lt"/>
          <a:ea typeface="+mn-ea"/>
          <a:cs typeface="+mn-cs"/>
        </a:defRPr>
      </a:lvl2pPr>
      <a:lvl3pPr marL="3784359" indent="-756872" algn="l" defTabSz="3027487" rtl="0" eaLnBrk="1" latinLnBrk="1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6622" kern="1200">
          <a:solidFill>
            <a:schemeClr val="tx1"/>
          </a:solidFill>
          <a:latin typeface="+mn-lt"/>
          <a:ea typeface="+mn-ea"/>
          <a:cs typeface="+mn-cs"/>
        </a:defRPr>
      </a:lvl3pPr>
      <a:lvl4pPr marL="5298102" indent="-756872" algn="l" defTabSz="3027487" rtl="0" eaLnBrk="1" latinLnBrk="1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811846" indent="-756872" algn="l" defTabSz="3027487" rtl="0" eaLnBrk="1" latinLnBrk="1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8325589" indent="-756872" algn="l" defTabSz="3027487" rtl="0" eaLnBrk="1" latinLnBrk="1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839333" indent="-756872" algn="l" defTabSz="3027487" rtl="0" eaLnBrk="1" latinLnBrk="1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1353076" indent="-756872" algn="l" defTabSz="3027487" rtl="0" eaLnBrk="1" latinLnBrk="1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866820" indent="-756872" algn="l" defTabSz="3027487" rtl="0" eaLnBrk="1" latinLnBrk="1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27487" rtl="0" eaLnBrk="1" latinLnBrk="1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1pPr>
      <a:lvl2pPr marL="1513743" algn="l" defTabSz="3027487" rtl="0" eaLnBrk="1" latinLnBrk="1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2pPr>
      <a:lvl3pPr marL="3027487" algn="l" defTabSz="3027487" rtl="0" eaLnBrk="1" latinLnBrk="1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3pPr>
      <a:lvl4pPr marL="4541230" algn="l" defTabSz="3027487" rtl="0" eaLnBrk="1" latinLnBrk="1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054974" algn="l" defTabSz="3027487" rtl="0" eaLnBrk="1" latinLnBrk="1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7568717" algn="l" defTabSz="3027487" rtl="0" eaLnBrk="1" latinLnBrk="1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082461" algn="l" defTabSz="3027487" rtl="0" eaLnBrk="1" latinLnBrk="1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0596204" algn="l" defTabSz="3027487" rtl="0" eaLnBrk="1" latinLnBrk="1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109948" algn="l" defTabSz="3027487" rtl="0" eaLnBrk="1" latinLnBrk="1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8E863-88F5-B6E7-1CCB-24EC79133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E47CC2E-2E04-5D8E-CB49-4D84AD80E366}"/>
              </a:ext>
            </a:extLst>
          </p:cNvPr>
          <p:cNvSpPr/>
          <p:nvPr/>
        </p:nvSpPr>
        <p:spPr>
          <a:xfrm>
            <a:off x="2" y="0"/>
            <a:ext cx="30275213" cy="3281082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06759CA4-185D-1143-7476-C2262EA39D9B}"/>
              </a:ext>
            </a:extLst>
          </p:cNvPr>
          <p:cNvSpPr txBox="1">
            <a:spLocks/>
          </p:cNvSpPr>
          <p:nvPr/>
        </p:nvSpPr>
        <p:spPr>
          <a:xfrm>
            <a:off x="548971" y="1309858"/>
            <a:ext cx="29177271" cy="184705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3027487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1986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sz="4900" b="1" dirty="0">
                <a:solidFill>
                  <a:schemeClr val="bg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Real-time</a:t>
            </a:r>
            <a:r>
              <a:rPr sz="4900" b="1" dirty="0">
                <a:solidFill>
                  <a:schemeClr val="bg1"/>
                </a:solidFill>
                <a:latin typeface="+mn-lt"/>
              </a:rPr>
              <a:t> Vehicle Detection &amp; Traffic Analytics from Live CCTV Streams</a:t>
            </a:r>
            <a:endParaRPr lang="en-US" altLang="ko-KR" sz="7400" b="1" dirty="0">
              <a:solidFill>
                <a:schemeClr val="bg1"/>
              </a:solidFill>
              <a:latin typeface="+mn-lt"/>
              <a:ea typeface="나눔바른고딕" panose="020B0603020101020101" pitchFamily="50" charset="-127"/>
              <a:cs typeface="Arial" panose="020B0604020202020204" pitchFamily="34" charset="0"/>
            </a:endParaRPr>
          </a:p>
          <a:p>
            <a:pPr algn="ctr"/>
            <a:r>
              <a:rPr sz="3700" dirty="0">
                <a:solidFill>
                  <a:schemeClr val="bg1"/>
                </a:solidFill>
                <a:latin typeface="+mn-lt"/>
              </a:rPr>
              <a:t>Minsoo Ahn</a:t>
            </a:r>
            <a:r>
              <a:rPr lang="en-US" sz="3700" dirty="0">
                <a:solidFill>
                  <a:schemeClr val="bg1"/>
                </a:solidFill>
                <a:latin typeface="+mn-lt"/>
              </a:rPr>
              <a:t>, Dahyun Kwon</a:t>
            </a:r>
            <a:r>
              <a:rPr sz="3700" dirty="0">
                <a:solidFill>
                  <a:schemeClr val="bg1"/>
                </a:solidFill>
                <a:latin typeface="+mn-lt"/>
              </a:rPr>
              <a:t>  ·  CSE 327, Spring 2026  · </a:t>
            </a:r>
            <a:r>
              <a:rPr lang="en-US" sz="3700" dirty="0">
                <a:solidFill>
                  <a:schemeClr val="bg1"/>
                </a:solidFill>
                <a:latin typeface="+mn-lt"/>
              </a:rPr>
              <a:t>SUNY</a:t>
            </a:r>
            <a:r>
              <a:rPr sz="3700" dirty="0">
                <a:solidFill>
                  <a:schemeClr val="bg1"/>
                </a:solidFill>
                <a:latin typeface="+mn-lt"/>
              </a:rPr>
              <a:t> Korea University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FC9FDDC-566A-DABB-20FD-B2FAEE45EA9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376" y="426912"/>
            <a:ext cx="4220538" cy="231670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294C785-803D-FBFC-0586-E9A6D9127287}"/>
              </a:ext>
            </a:extLst>
          </p:cNvPr>
          <p:cNvSpPr/>
          <p:nvPr/>
        </p:nvSpPr>
        <p:spPr>
          <a:xfrm>
            <a:off x="458805" y="14248592"/>
            <a:ext cx="14400000" cy="10800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/>
              <a:t>INTRODUCTION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64E6A6DD-5395-0F6C-80CD-9138749C9A42}"/>
              </a:ext>
            </a:extLst>
          </p:cNvPr>
          <p:cNvSpPr/>
          <p:nvPr/>
        </p:nvSpPr>
        <p:spPr>
          <a:xfrm>
            <a:off x="458805" y="24311949"/>
            <a:ext cx="14400000" cy="10800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/>
              <a:t>TECH STACK</a:t>
            </a:r>
          </a:p>
        </p:txBody>
      </p:sp>
      <p:sp>
        <p:nvSpPr>
          <p:cNvPr id="6" name="B52">
            <a:extLst>
              <a:ext uri="{FF2B5EF4-FFF2-40B4-BE49-F238E27FC236}">
                <a16:creationId xmlns:a16="http://schemas.microsoft.com/office/drawing/2014/main" id="{9A788A78-77A4-597B-8FFB-28E7C26E59B4}"/>
              </a:ext>
            </a:extLst>
          </p:cNvPr>
          <p:cNvSpPr txBox="1">
            <a:spLocks/>
          </p:cNvSpPr>
          <p:nvPr/>
        </p:nvSpPr>
        <p:spPr>
          <a:xfrm>
            <a:off x="458806" y="25548499"/>
            <a:ext cx="14400000" cy="5932987"/>
          </a:xfrm>
          <a:prstGeom prst="roundRect">
            <a:avLst>
              <a:gd name="adj" fmla="val 3057"/>
            </a:avLst>
          </a:prstGeom>
          <a:solidFill>
            <a:srgbClr val="EEF2FA"/>
          </a:solidFill>
          <a:ln>
            <a:solidFill>
              <a:schemeClr val="tx1"/>
            </a:solidFill>
          </a:ln>
        </p:spPr>
        <p:txBody>
          <a:bodyPr lIns="144000" tIns="108000" rIns="144000" bIns="108000" anchor="t">
            <a:noAutofit/>
          </a:bodyPr>
          <a:lstStyle/>
          <a:p>
            <a:pPr marL="0" marR="0" lvl="0" indent="0" algn="l" defTabSz="3507208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3000" b="0" i="0" u="none" strike="noStrike" kern="1200" cap="none" spc="0" normalizeH="0" baseline="0" noProof="0" dirty="0">
              <a:ln>
                <a:noFill/>
              </a:ln>
              <a:solidFill>
                <a:srgbClr val="1F2D3D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B52">
            <a:extLst>
              <a:ext uri="{FF2B5EF4-FFF2-40B4-BE49-F238E27FC236}">
                <a16:creationId xmlns:a16="http://schemas.microsoft.com/office/drawing/2014/main" id="{A3F15090-0986-EB52-1938-A28FA9F3A812}"/>
              </a:ext>
            </a:extLst>
          </p:cNvPr>
          <p:cNvSpPr txBox="1">
            <a:spLocks/>
          </p:cNvSpPr>
          <p:nvPr/>
        </p:nvSpPr>
        <p:spPr>
          <a:xfrm>
            <a:off x="458806" y="15501014"/>
            <a:ext cx="14400000" cy="8534853"/>
          </a:xfrm>
          <a:prstGeom prst="roundRect">
            <a:avLst>
              <a:gd name="adj" fmla="val 4465"/>
            </a:avLst>
          </a:prstGeom>
          <a:solidFill>
            <a:srgbClr val="EEF2FA"/>
          </a:solidFill>
          <a:ln>
            <a:solidFill>
              <a:schemeClr val="tx1"/>
            </a:solidFill>
          </a:ln>
          <a:effectLst>
            <a:softEdge rad="0"/>
          </a:effectLst>
        </p:spPr>
        <p:txBody>
          <a:bodyPr lIns="144000" tIns="108000" rIns="144000" bIns="10800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ko-KR" sz="4000" dirty="0"/>
              <a:t>Korea's 3,000+ highway CCTV cameras generate 24/7 footage — yet real-time traffic state remains inaccessible. Traffic Digital Twin delivers GPS-accurate vehicle tracking with no additional hardware.</a:t>
            </a:r>
          </a:p>
          <a:p>
            <a:pPr>
              <a:lnSpc>
                <a:spcPct val="120000"/>
              </a:lnSpc>
            </a:pPr>
            <a:endParaRPr lang="en-US" sz="4000" dirty="0">
              <a:solidFill>
                <a:srgbClr val="0D1B2A"/>
              </a:solidFill>
              <a:latin typeface="Calibri"/>
            </a:endParaRPr>
          </a:p>
          <a:p>
            <a:pPr>
              <a:lnSpc>
                <a:spcPct val="120000"/>
              </a:lnSpc>
            </a:pPr>
            <a:endParaRPr lang="en-US" sz="4000" dirty="0">
              <a:solidFill>
                <a:srgbClr val="0D1B2A"/>
              </a:solidFill>
              <a:latin typeface="Calibri"/>
            </a:endParaRPr>
          </a:p>
          <a:p>
            <a:pPr>
              <a:lnSpc>
                <a:spcPct val="120000"/>
              </a:lnSpc>
            </a:pPr>
            <a:endParaRPr lang="en-US" sz="4000" dirty="0">
              <a:solidFill>
                <a:srgbClr val="0D1B2A"/>
              </a:solidFill>
              <a:latin typeface="Calibri"/>
            </a:endParaRPr>
          </a:p>
          <a:p>
            <a:pPr>
              <a:lnSpc>
                <a:spcPct val="120000"/>
              </a:lnSpc>
            </a:pPr>
            <a:r>
              <a:rPr lang="en-US" sz="4000" dirty="0">
                <a:solidFill>
                  <a:srgbClr val="0D1B2A"/>
                </a:solidFill>
              </a:rPr>
              <a:t>📷 YOLOv8 + </a:t>
            </a:r>
            <a:r>
              <a:rPr lang="en-US" sz="4000" dirty="0" err="1">
                <a:solidFill>
                  <a:srgbClr val="0D1B2A"/>
                </a:solidFill>
              </a:rPr>
              <a:t>BoxMOT</a:t>
            </a:r>
            <a:r>
              <a:rPr lang="en-US" sz="4000" dirty="0">
                <a:solidFill>
                  <a:srgbClr val="0D1B2A"/>
                </a:solidFill>
              </a:rPr>
              <a:t> tracking — car, motorcycle, bus, truck</a:t>
            </a:r>
            <a:endParaRPr lang="en-US" sz="4000" dirty="0">
              <a:solidFill>
                <a:srgbClr val="0D1B2A"/>
              </a:solidFill>
              <a:latin typeface="Calibri"/>
            </a:endParaRPr>
          </a:p>
          <a:p>
            <a:pPr>
              <a:lnSpc>
                <a:spcPct val="120000"/>
              </a:lnSpc>
            </a:pPr>
            <a:r>
              <a:rPr lang="en-US" sz="4000" dirty="0">
                <a:solidFill>
                  <a:srgbClr val="0D1B2A"/>
                </a:solidFill>
              </a:rPr>
              <a:t>🗺️ Pixel → GPS </a:t>
            </a:r>
            <a:r>
              <a:rPr lang="en-US" sz="4000" dirty="0" err="1">
                <a:solidFill>
                  <a:srgbClr val="0D1B2A"/>
                </a:solidFill>
              </a:rPr>
              <a:t>homography</a:t>
            </a:r>
            <a:r>
              <a:rPr lang="en-US" sz="4000" dirty="0">
                <a:solidFill>
                  <a:srgbClr val="0D1B2A"/>
                </a:solidFill>
              </a:rPr>
              <a:t> (~130m × 70m FOV per camera)</a:t>
            </a:r>
          </a:p>
          <a:p>
            <a:pPr>
              <a:lnSpc>
                <a:spcPct val="120000"/>
              </a:lnSpc>
            </a:pPr>
            <a:r>
              <a:rPr lang="ko-KR" altLang="en-US" sz="4000" dirty="0"/>
              <a:t>⚙️</a:t>
            </a:r>
            <a:r>
              <a:rPr lang="en-US" altLang="ko-KR" sz="4000" dirty="0"/>
              <a:t>EMA speed (α=0.30) · LOS grading A–F · bottleneck detection</a:t>
            </a:r>
          </a:p>
          <a:p>
            <a:pPr>
              <a:lnSpc>
                <a:spcPct val="120000"/>
              </a:lnSpc>
            </a:pPr>
            <a:r>
              <a:rPr lang="en-US" sz="4000" dirty="0">
                <a:solidFill>
                  <a:srgbClr val="0D1B2A"/>
                </a:solidFill>
              </a:rPr>
              <a:t>✏️Browser ROI editor and camera calibration — no server restart</a:t>
            </a:r>
            <a:endParaRPr lang="en-US" sz="4000" dirty="0">
              <a:solidFill>
                <a:srgbClr val="0D1B2A"/>
              </a:solidFill>
              <a:latin typeface="Calibri"/>
            </a:endParaRPr>
          </a:p>
        </p:txBody>
      </p:sp>
      <p:sp>
        <p:nvSpPr>
          <p:cNvPr id="8" name="Rectangle 8">
            <a:extLst>
              <a:ext uri="{FF2B5EF4-FFF2-40B4-BE49-F238E27FC236}">
                <a16:creationId xmlns:a16="http://schemas.microsoft.com/office/drawing/2014/main" id="{3EB1C23F-4C51-2DFA-8106-84531F595FBD}"/>
              </a:ext>
            </a:extLst>
          </p:cNvPr>
          <p:cNvSpPr/>
          <p:nvPr/>
        </p:nvSpPr>
        <p:spPr>
          <a:xfrm>
            <a:off x="458804" y="31776180"/>
            <a:ext cx="14400000" cy="10800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/>
              <a:t>RESULTS &amp; LIMITAION</a:t>
            </a:r>
          </a:p>
        </p:txBody>
      </p:sp>
      <p:sp>
        <p:nvSpPr>
          <p:cNvPr id="10" name="B52">
            <a:extLst>
              <a:ext uri="{FF2B5EF4-FFF2-40B4-BE49-F238E27FC236}">
                <a16:creationId xmlns:a16="http://schemas.microsoft.com/office/drawing/2014/main" id="{34E95ECA-3128-2CDE-718D-A182715E4EA2}"/>
              </a:ext>
            </a:extLst>
          </p:cNvPr>
          <p:cNvSpPr txBox="1">
            <a:spLocks/>
          </p:cNvSpPr>
          <p:nvPr/>
        </p:nvSpPr>
        <p:spPr>
          <a:xfrm>
            <a:off x="458804" y="33012729"/>
            <a:ext cx="14400000" cy="9038313"/>
          </a:xfrm>
          <a:prstGeom prst="roundRect">
            <a:avLst>
              <a:gd name="adj" fmla="val 3057"/>
            </a:avLst>
          </a:prstGeom>
          <a:solidFill>
            <a:srgbClr val="EEF2FA"/>
          </a:solidFill>
          <a:ln>
            <a:solidFill>
              <a:schemeClr val="tx1"/>
            </a:solidFill>
          </a:ln>
        </p:spPr>
        <p:txBody>
          <a:bodyPr lIns="144000" tIns="108000" rIns="144000" bIns="108000" anchor="t">
            <a:noAutofit/>
          </a:bodyPr>
          <a:lstStyle/>
          <a:p>
            <a:pPr marL="0" marR="0" lvl="0" indent="0" algn="l" defTabSz="3507208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lang="en-US" sz="4000" dirty="0">
              <a:solidFill>
                <a:srgbClr val="0D1B2A"/>
              </a:solidFill>
              <a:latin typeface="Calibri"/>
            </a:endParaRPr>
          </a:p>
          <a:p>
            <a:pPr marL="0" marR="0" lvl="0" indent="0" algn="l" defTabSz="3507208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lang="en-US" sz="4000" dirty="0">
              <a:solidFill>
                <a:srgbClr val="0D1B2A"/>
              </a:solidFill>
              <a:latin typeface="Calibri"/>
            </a:endParaRPr>
          </a:p>
          <a:p>
            <a:pPr marL="0" marR="0" lvl="0" indent="0" algn="l" defTabSz="3507208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lang="en-US" sz="4000" dirty="0">
              <a:solidFill>
                <a:srgbClr val="0D1B2A"/>
              </a:solidFill>
              <a:latin typeface="Calibri"/>
            </a:endParaRPr>
          </a:p>
          <a:p>
            <a:pPr marL="0" marR="0" lvl="0" indent="0" algn="l" defTabSz="3507208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lang="en-US" sz="4000" dirty="0">
              <a:solidFill>
                <a:srgbClr val="0D1B2A"/>
              </a:solidFill>
              <a:latin typeface="Calibri"/>
            </a:endParaRPr>
          </a:p>
          <a:p>
            <a:pPr marL="0" marR="0" lvl="0" indent="0" algn="l" defTabSz="3507208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lang="en-US" sz="4000" dirty="0">
              <a:solidFill>
                <a:srgbClr val="0D1B2A"/>
              </a:solidFill>
              <a:latin typeface="Calibri"/>
            </a:endParaRPr>
          </a:p>
          <a:p>
            <a:pPr marL="0" marR="0" lvl="0" indent="0" algn="l" defTabSz="3507208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lang="en-US" sz="4000" dirty="0">
              <a:solidFill>
                <a:srgbClr val="0D1B2A"/>
              </a:solidFill>
              <a:latin typeface="Calibri"/>
            </a:endParaRPr>
          </a:p>
          <a:p>
            <a:pPr marL="0" marR="0" lvl="0" indent="0" algn="l" defTabSz="3507208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lang="en-US" sz="4000" dirty="0">
              <a:solidFill>
                <a:srgbClr val="0D1B2A"/>
              </a:solidFill>
              <a:latin typeface="Calibri"/>
            </a:endParaRPr>
          </a:p>
          <a:p>
            <a:pPr marL="0" marR="0" lvl="0" indent="0" algn="l" defTabSz="3507208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en-US" sz="4000" dirty="0">
                <a:solidFill>
                  <a:srgbClr val="0D1B2A"/>
                </a:solidFill>
                <a:latin typeface="Calibri"/>
              </a:rPr>
              <a:t>Known Limitation</a:t>
            </a:r>
          </a:p>
          <a:p>
            <a:pPr lvl="0">
              <a:lnSpc>
                <a:spcPct val="110000"/>
              </a:lnSpc>
              <a:spcAft>
                <a:spcPts val="300"/>
              </a:spcAft>
              <a:defRPr/>
            </a:pPr>
            <a:r>
              <a:rPr lang="en-US" sz="4000" dirty="0">
                <a:solidFill>
                  <a:srgbClr val="0D1B2A"/>
                </a:solidFill>
              </a:rPr>
              <a:t>⚠️</a:t>
            </a:r>
            <a:r>
              <a:rPr lang="en-US" sz="4000" dirty="0" err="1">
                <a:solidFill>
                  <a:srgbClr val="0D1B2A"/>
                </a:solidFill>
              </a:rPr>
              <a:t>Homography</a:t>
            </a:r>
            <a:r>
              <a:rPr lang="en-US" sz="4000" dirty="0">
                <a:solidFill>
                  <a:srgbClr val="0D1B2A"/>
                </a:solidFill>
              </a:rPr>
              <a:t> </a:t>
            </a:r>
            <a:r>
              <a:rPr lang="en-US" sz="4000" dirty="0">
                <a:solidFill>
                  <a:srgbClr val="0D1B2A"/>
                </a:solidFill>
                <a:latin typeface="Calibri"/>
              </a:rPr>
              <a:t>valid only inside calibrated quad</a:t>
            </a:r>
          </a:p>
          <a:p>
            <a:pPr lvl="0">
              <a:lnSpc>
                <a:spcPct val="110000"/>
              </a:lnSpc>
              <a:spcAft>
                <a:spcPts val="300"/>
              </a:spcAft>
              <a:defRPr/>
            </a:pPr>
            <a:r>
              <a:rPr lang="en-US" sz="4000" dirty="0">
                <a:solidFill>
                  <a:srgbClr val="0D1B2A"/>
                </a:solidFill>
              </a:rPr>
              <a:t>⚠️Manual </a:t>
            </a:r>
            <a:r>
              <a:rPr lang="en-US" sz="4000" dirty="0">
                <a:solidFill>
                  <a:srgbClr val="0D1B2A"/>
                </a:solidFill>
                <a:latin typeface="Calibri"/>
              </a:rPr>
              <a:t>ROI required per camera</a:t>
            </a:r>
          </a:p>
          <a:p>
            <a:pPr lvl="0">
              <a:lnSpc>
                <a:spcPct val="110000"/>
              </a:lnSpc>
              <a:spcAft>
                <a:spcPts val="300"/>
              </a:spcAft>
              <a:defRPr/>
            </a:pPr>
            <a:r>
              <a:rPr lang="en-US" sz="4000" dirty="0">
                <a:solidFill>
                  <a:srgbClr val="0D1B2A"/>
                </a:solidFill>
              </a:rPr>
              <a:t>⚠️Reduced </a:t>
            </a:r>
            <a:r>
              <a:rPr lang="en-US" sz="4000" dirty="0">
                <a:solidFill>
                  <a:srgbClr val="0D1B2A"/>
                </a:solidFill>
                <a:latin typeface="Calibri"/>
              </a:rPr>
              <a:t>accuracy in night / low-light scenes</a:t>
            </a:r>
          </a:p>
          <a:p>
            <a:pPr lvl="0">
              <a:lnSpc>
                <a:spcPct val="110000"/>
              </a:lnSpc>
              <a:spcAft>
                <a:spcPts val="300"/>
              </a:spcAft>
              <a:defRPr/>
            </a:pPr>
            <a:r>
              <a:rPr lang="en-US" sz="4000" dirty="0">
                <a:solidFill>
                  <a:srgbClr val="0D1B2A"/>
                </a:solidFill>
              </a:rPr>
              <a:t>⚠️Speed </a:t>
            </a:r>
            <a:r>
              <a:rPr lang="en-US" sz="4000" dirty="0">
                <a:solidFill>
                  <a:srgbClr val="0D1B2A"/>
                </a:solidFill>
                <a:latin typeface="Calibri"/>
              </a:rPr>
              <a:t>threshold fixed at 120 km/h in config</a:t>
            </a:r>
          </a:p>
        </p:txBody>
      </p:sp>
      <p:sp>
        <p:nvSpPr>
          <p:cNvPr id="11" name="Rectangle 8">
            <a:extLst>
              <a:ext uri="{FF2B5EF4-FFF2-40B4-BE49-F238E27FC236}">
                <a16:creationId xmlns:a16="http://schemas.microsoft.com/office/drawing/2014/main" id="{8A42FEA6-42DC-BF61-DB53-C83A12824380}"/>
              </a:ext>
            </a:extLst>
          </p:cNvPr>
          <p:cNvSpPr/>
          <p:nvPr/>
        </p:nvSpPr>
        <p:spPr>
          <a:xfrm>
            <a:off x="15326242" y="14248592"/>
            <a:ext cx="14400000" cy="10800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/>
              <a:t>DEMO</a:t>
            </a:r>
          </a:p>
        </p:txBody>
      </p:sp>
      <p:sp>
        <p:nvSpPr>
          <p:cNvPr id="12" name="B52">
            <a:extLst>
              <a:ext uri="{FF2B5EF4-FFF2-40B4-BE49-F238E27FC236}">
                <a16:creationId xmlns:a16="http://schemas.microsoft.com/office/drawing/2014/main" id="{3171505B-4AFB-41BD-8EF9-A77A0D0BD452}"/>
              </a:ext>
            </a:extLst>
          </p:cNvPr>
          <p:cNvSpPr txBox="1">
            <a:spLocks/>
          </p:cNvSpPr>
          <p:nvPr/>
        </p:nvSpPr>
        <p:spPr>
          <a:xfrm>
            <a:off x="15326242" y="15501015"/>
            <a:ext cx="14400000" cy="26550027"/>
          </a:xfrm>
          <a:prstGeom prst="roundRect">
            <a:avLst>
              <a:gd name="adj" fmla="val 2543"/>
            </a:avLst>
          </a:prstGeom>
          <a:solidFill>
            <a:srgbClr val="EEF2FA"/>
          </a:solidFill>
          <a:ln>
            <a:solidFill>
              <a:schemeClr val="tx1"/>
            </a:solidFill>
          </a:ln>
        </p:spPr>
        <p:txBody>
          <a:bodyPr lIns="144000" tIns="108000" rIns="144000" bIns="108000" anchor="t">
            <a:noAutofit/>
          </a:bodyPr>
          <a:lstStyle/>
          <a:p>
            <a:pPr algn="l">
              <a:lnSpc>
                <a:spcPct val="120000"/>
              </a:lnSpc>
            </a:pPr>
            <a:endParaRPr lang="en-US" sz="4000" dirty="0">
              <a:solidFill>
                <a:srgbClr val="0D1B2A"/>
              </a:solidFill>
              <a:latin typeface="Calibri"/>
            </a:endParaRPr>
          </a:p>
        </p:txBody>
      </p:sp>
      <p:pic>
        <p:nvPicPr>
          <p:cNvPr id="20" name="P63">
            <a:extLst>
              <a:ext uri="{FF2B5EF4-FFF2-40B4-BE49-F238E27FC236}">
                <a16:creationId xmlns:a16="http://schemas.microsoft.com/office/drawing/2014/main" id="{97C9AAB2-49F2-2188-6E5B-4ABD2271DB8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7176"/>
          <a:stretch>
            <a:fillRect/>
          </a:stretch>
        </p:blipFill>
        <p:spPr>
          <a:xfrm>
            <a:off x="15762599" y="33973080"/>
            <a:ext cx="5759057" cy="5404320"/>
          </a:xfrm>
          <a:prstGeom prst="rect">
            <a:avLst/>
          </a:prstGeom>
        </p:spPr>
      </p:pic>
      <p:pic>
        <p:nvPicPr>
          <p:cNvPr id="21" name="P66">
            <a:extLst>
              <a:ext uri="{FF2B5EF4-FFF2-40B4-BE49-F238E27FC236}">
                <a16:creationId xmlns:a16="http://schemas.microsoft.com/office/drawing/2014/main" id="{F692A3B0-2347-E0AE-E0BC-6629A89AD9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92541" y="33943427"/>
            <a:ext cx="7497341" cy="5514922"/>
          </a:xfrm>
          <a:prstGeom prst="rect">
            <a:avLst/>
          </a:prstGeom>
        </p:spPr>
      </p:pic>
      <p:pic>
        <p:nvPicPr>
          <p:cNvPr id="41" name="그림 40">
            <a:extLst>
              <a:ext uri="{FF2B5EF4-FFF2-40B4-BE49-F238E27FC236}">
                <a16:creationId xmlns:a16="http://schemas.microsoft.com/office/drawing/2014/main" id="{77701DE2-B76B-EC79-C026-CF23FA25176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62600" y="24916228"/>
            <a:ext cx="8083915" cy="5305782"/>
          </a:xfrm>
          <a:prstGeom prst="rect">
            <a:avLst/>
          </a:prstGeom>
        </p:spPr>
      </p:pic>
      <p:grpSp>
        <p:nvGrpSpPr>
          <p:cNvPr id="47" name="그룹 46">
            <a:extLst>
              <a:ext uri="{FF2B5EF4-FFF2-40B4-BE49-F238E27FC236}">
                <a16:creationId xmlns:a16="http://schemas.microsoft.com/office/drawing/2014/main" id="{E61A9177-EE18-9F74-6D7E-BC1E1FD73E8E}"/>
              </a:ext>
            </a:extLst>
          </p:cNvPr>
          <p:cNvGrpSpPr/>
          <p:nvPr/>
        </p:nvGrpSpPr>
        <p:grpSpPr>
          <a:xfrm>
            <a:off x="24109725" y="24919224"/>
            <a:ext cx="5180158" cy="6856956"/>
            <a:chOff x="15788983" y="29417408"/>
            <a:chExt cx="5647684" cy="7670917"/>
          </a:xfrm>
        </p:grpSpPr>
        <p:pic>
          <p:nvPicPr>
            <p:cNvPr id="23" name="P69">
              <a:extLst>
                <a:ext uri="{FF2B5EF4-FFF2-40B4-BE49-F238E27FC236}">
                  <a16:creationId xmlns:a16="http://schemas.microsoft.com/office/drawing/2014/main" id="{2FE1AB4B-D147-47F7-BE83-388B53858C1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51443"/>
            <a:stretch>
              <a:fillRect/>
            </a:stretch>
          </p:blipFill>
          <p:spPr>
            <a:xfrm>
              <a:off x="15788984" y="33511542"/>
              <a:ext cx="5647683" cy="3576783"/>
            </a:xfrm>
            <a:prstGeom prst="rect">
              <a:avLst/>
            </a:prstGeom>
          </p:spPr>
        </p:pic>
        <p:pic>
          <p:nvPicPr>
            <p:cNvPr id="46" name="그림 45">
              <a:extLst>
                <a:ext uri="{FF2B5EF4-FFF2-40B4-BE49-F238E27FC236}">
                  <a16:creationId xmlns:a16="http://schemas.microsoft.com/office/drawing/2014/main" id="{0A4E5BF0-8837-378E-47EA-8F6CA287B99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5788983" y="29417408"/>
              <a:ext cx="5647683" cy="4098318"/>
            </a:xfrm>
            <a:prstGeom prst="rect">
              <a:avLst/>
            </a:prstGeom>
          </p:spPr>
        </p:pic>
      </p:grpSp>
      <p:pic>
        <p:nvPicPr>
          <p:cNvPr id="26" name="그림 25">
            <a:extLst>
              <a:ext uri="{FF2B5EF4-FFF2-40B4-BE49-F238E27FC236}">
                <a16:creationId xmlns:a16="http://schemas.microsoft.com/office/drawing/2014/main" id="{01B1D9D8-A47F-9761-CF49-46B6E3EBCED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23529" y="3442689"/>
            <a:ext cx="22209548" cy="8977828"/>
          </a:xfrm>
          <a:prstGeom prst="rect">
            <a:avLst/>
          </a:prstGeom>
        </p:spPr>
      </p:pic>
      <p:grpSp>
        <p:nvGrpSpPr>
          <p:cNvPr id="30" name="그룹 29">
            <a:extLst>
              <a:ext uri="{FF2B5EF4-FFF2-40B4-BE49-F238E27FC236}">
                <a16:creationId xmlns:a16="http://schemas.microsoft.com/office/drawing/2014/main" id="{AB6BB099-42AC-37A3-7D08-D93551E3B87F}"/>
              </a:ext>
            </a:extLst>
          </p:cNvPr>
          <p:cNvGrpSpPr/>
          <p:nvPr/>
        </p:nvGrpSpPr>
        <p:grpSpPr>
          <a:xfrm>
            <a:off x="913785" y="18680715"/>
            <a:ext cx="13490041" cy="2235609"/>
            <a:chOff x="606191" y="23118219"/>
            <a:chExt cx="13490041" cy="2235609"/>
          </a:xfrm>
        </p:grpSpPr>
        <p:sp>
          <p:nvSpPr>
            <p:cNvPr id="27" name="사각형: 둥근 모서리 26">
              <a:extLst>
                <a:ext uri="{FF2B5EF4-FFF2-40B4-BE49-F238E27FC236}">
                  <a16:creationId xmlns:a16="http://schemas.microsoft.com/office/drawing/2014/main" id="{B4E89B03-7D38-CB55-0D7F-F0AB39D18E66}"/>
                </a:ext>
              </a:extLst>
            </p:cNvPr>
            <p:cNvSpPr/>
            <p:nvPr/>
          </p:nvSpPr>
          <p:spPr>
            <a:xfrm>
              <a:off x="606191" y="23145750"/>
              <a:ext cx="4302723" cy="2208078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None/>
              </a:pPr>
              <a:r>
                <a:rPr lang="en-US" altLang="ko-KR" sz="7000" b="1" i="0" dirty="0">
                  <a:solidFill>
                    <a:srgbClr val="0C447C"/>
                  </a:solidFill>
                  <a:effectLst/>
                  <a:latin typeface="Anthropic Sans"/>
                </a:rPr>
                <a:t>3,000+</a:t>
              </a:r>
            </a:p>
            <a:p>
              <a:pPr algn="ctr">
                <a:spcBef>
                  <a:spcPts val="225"/>
                </a:spcBef>
                <a:buNone/>
              </a:pPr>
              <a:r>
                <a:rPr lang="en-US" altLang="ko-KR" sz="4000" b="1" i="0" dirty="0">
                  <a:solidFill>
                    <a:srgbClr val="185FA5"/>
                  </a:solidFill>
                  <a:effectLst/>
                  <a:latin typeface="Anthropic Sans"/>
                </a:rPr>
                <a:t>live cameras</a:t>
              </a:r>
            </a:p>
          </p:txBody>
        </p:sp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DE732192-E145-055D-C5F6-59E4FCDB7111}"/>
                </a:ext>
              </a:extLst>
            </p:cNvPr>
            <p:cNvSpPr/>
            <p:nvPr/>
          </p:nvSpPr>
          <p:spPr>
            <a:xfrm>
              <a:off x="5199850" y="23145750"/>
              <a:ext cx="4302723" cy="2208078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None/>
              </a:pPr>
              <a:r>
                <a:rPr lang="en-US" altLang="ko-KR" sz="7000" b="1" i="0" dirty="0">
                  <a:solidFill>
                    <a:srgbClr val="0C447C"/>
                  </a:solidFill>
                  <a:effectLst/>
                  <a:latin typeface="Anthropic Sans"/>
                </a:rPr>
                <a:t>0</a:t>
              </a:r>
            </a:p>
            <a:p>
              <a:pPr algn="ctr">
                <a:spcBef>
                  <a:spcPts val="225"/>
                </a:spcBef>
                <a:buNone/>
              </a:pPr>
              <a:r>
                <a:rPr lang="en-US" altLang="ko-KR" sz="4000" b="1" i="0" dirty="0">
                  <a:solidFill>
                    <a:srgbClr val="185FA5"/>
                  </a:solidFill>
                  <a:effectLst/>
                  <a:latin typeface="Anthropic Sans"/>
                </a:rPr>
                <a:t>Extra Hardware</a:t>
              </a:r>
            </a:p>
          </p:txBody>
        </p:sp>
        <p:sp>
          <p:nvSpPr>
            <p:cNvPr id="29" name="사각형: 둥근 모서리 28">
              <a:extLst>
                <a:ext uri="{FF2B5EF4-FFF2-40B4-BE49-F238E27FC236}">
                  <a16:creationId xmlns:a16="http://schemas.microsoft.com/office/drawing/2014/main" id="{384C6587-C159-C0B7-509F-02343DBF7A3F}"/>
                </a:ext>
              </a:extLst>
            </p:cNvPr>
            <p:cNvSpPr/>
            <p:nvPr/>
          </p:nvSpPr>
          <p:spPr>
            <a:xfrm>
              <a:off x="9793509" y="23118219"/>
              <a:ext cx="4302723" cy="2208078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None/>
              </a:pPr>
              <a:r>
                <a:rPr lang="en-US" altLang="ko-KR" sz="7000" b="1" dirty="0">
                  <a:solidFill>
                    <a:srgbClr val="0C447C"/>
                  </a:solidFill>
                  <a:latin typeface="Anthropic Sans"/>
                </a:rPr>
                <a:t>4pt</a:t>
              </a:r>
              <a:endParaRPr lang="en-US" altLang="ko-KR" sz="7000" b="1" i="0" dirty="0">
                <a:solidFill>
                  <a:srgbClr val="0C447C"/>
                </a:solidFill>
                <a:effectLst/>
                <a:latin typeface="Anthropic Sans"/>
              </a:endParaRPr>
            </a:p>
            <a:p>
              <a:pPr algn="ctr">
                <a:spcBef>
                  <a:spcPts val="225"/>
                </a:spcBef>
                <a:buNone/>
              </a:pPr>
              <a:r>
                <a:rPr lang="en-US" altLang="ko-KR" sz="4000" b="1" i="0" dirty="0">
                  <a:solidFill>
                    <a:srgbClr val="185FA5"/>
                  </a:solidFill>
                  <a:effectLst/>
                  <a:latin typeface="Anthropic Sans"/>
                </a:rPr>
                <a:t>GPS calibration</a:t>
              </a:r>
            </a:p>
          </p:txBody>
        </p:sp>
      </p:grp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3AC95CDE-8351-21F7-06FB-3562D0B1C4A6}"/>
              </a:ext>
            </a:extLst>
          </p:cNvPr>
          <p:cNvSpPr/>
          <p:nvPr/>
        </p:nvSpPr>
        <p:spPr>
          <a:xfrm>
            <a:off x="691601" y="25898280"/>
            <a:ext cx="6840000" cy="5400000"/>
          </a:xfrm>
          <a:prstGeom prst="roundRect">
            <a:avLst>
              <a:gd name="adj" fmla="val 8862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4000" b="1" dirty="0">
                <a:solidFill>
                  <a:srgbClr val="0C447C"/>
                </a:solidFill>
              </a:rPr>
              <a:t>Backend</a:t>
            </a:r>
            <a:endParaRPr lang="en-US" altLang="ko-KR" sz="4000" b="1" dirty="0"/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B6EDDA9B-1E97-2020-389B-9A26FC47BB69}"/>
              </a:ext>
            </a:extLst>
          </p:cNvPr>
          <p:cNvSpPr/>
          <p:nvPr/>
        </p:nvSpPr>
        <p:spPr>
          <a:xfrm>
            <a:off x="7781859" y="25898280"/>
            <a:ext cx="6840000" cy="5400000"/>
          </a:xfrm>
          <a:prstGeom prst="roundRect">
            <a:avLst>
              <a:gd name="adj" fmla="val 8786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350720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000" b="1" i="0" u="none" strike="noStrike" kern="1200" cap="none" spc="0" normalizeH="0" baseline="0" noProof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rPr>
              <a:t>Frontend</a:t>
            </a:r>
            <a:endParaRPr kumimoji="0" lang="en-US" altLang="ko-KR" sz="4000" b="1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1334C935-00BB-3EB2-71A2-93FBE2F248D4}"/>
              </a:ext>
            </a:extLst>
          </p:cNvPr>
          <p:cNvSpPr/>
          <p:nvPr/>
        </p:nvSpPr>
        <p:spPr>
          <a:xfrm>
            <a:off x="691601" y="33321288"/>
            <a:ext cx="6870526" cy="2730987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altLang="ko-KR" sz="9000" b="1" i="0" dirty="0">
                <a:solidFill>
                  <a:srgbClr val="0C447C"/>
                </a:solidFill>
                <a:effectLst/>
                <a:latin typeface="Anthropic Sans"/>
              </a:rPr>
              <a:t>37</a:t>
            </a:r>
            <a:r>
              <a:rPr lang="en-US" altLang="ko-KR" sz="6000" i="0" dirty="0">
                <a:solidFill>
                  <a:srgbClr val="0C447C"/>
                </a:solidFill>
                <a:effectLst/>
                <a:latin typeface="Anthropic Sans"/>
              </a:rPr>
              <a:t>fps</a:t>
            </a:r>
          </a:p>
          <a:p>
            <a:pPr algn="ctr">
              <a:buNone/>
            </a:pPr>
            <a:r>
              <a:rPr lang="en-US" altLang="ko-KR" sz="4000" i="0" dirty="0">
                <a:solidFill>
                  <a:srgbClr val="0C447C"/>
                </a:solidFill>
                <a:effectLst/>
                <a:latin typeface="Anthropic Sans"/>
              </a:rPr>
              <a:t>~27ms pipeline</a:t>
            </a:r>
          </a:p>
          <a:p>
            <a:pPr algn="ctr">
              <a:buNone/>
            </a:pPr>
            <a:r>
              <a:rPr lang="en-US" altLang="ko-KR" sz="4000" b="1" i="0" dirty="0">
                <a:solidFill>
                  <a:srgbClr val="0C447C"/>
                </a:solidFill>
                <a:effectLst/>
                <a:latin typeface="Anthropic Sans"/>
              </a:rPr>
              <a:t>YOLOv8x FP16</a:t>
            </a:r>
            <a:endParaRPr lang="en-US" altLang="ko-KR" sz="4000" b="1" i="0" dirty="0">
              <a:solidFill>
                <a:srgbClr val="185FA5"/>
              </a:solidFill>
              <a:effectLst/>
              <a:latin typeface="Anthropic Sans"/>
            </a:endParaRP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3746B345-3AF9-4B14-ED79-758B6335954A}"/>
              </a:ext>
            </a:extLst>
          </p:cNvPr>
          <p:cNvSpPr/>
          <p:nvPr/>
        </p:nvSpPr>
        <p:spPr>
          <a:xfrm>
            <a:off x="7766596" y="33309340"/>
            <a:ext cx="6870526" cy="274293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altLang="ko-KR" sz="9000" b="1" i="0" dirty="0">
                <a:solidFill>
                  <a:srgbClr val="0C447C"/>
                </a:solidFill>
                <a:effectLst/>
                <a:latin typeface="Anthropic Sans"/>
              </a:rPr>
              <a:t>50</a:t>
            </a:r>
            <a:r>
              <a:rPr lang="en-US" altLang="ko-KR" sz="6000" i="0" dirty="0">
                <a:solidFill>
                  <a:srgbClr val="0C447C"/>
                </a:solidFill>
                <a:effectLst/>
                <a:latin typeface="Anthropic Sans"/>
              </a:rPr>
              <a:t>fps</a:t>
            </a:r>
          </a:p>
          <a:p>
            <a:pPr algn="ctr">
              <a:buNone/>
            </a:pPr>
            <a:r>
              <a:rPr lang="en-US" altLang="ko-KR" sz="4000" i="0" dirty="0">
                <a:solidFill>
                  <a:srgbClr val="0C447C"/>
                </a:solidFill>
                <a:effectLst/>
                <a:latin typeface="Anthropic Sans"/>
              </a:rPr>
              <a:t>~20ms pipeline</a:t>
            </a:r>
          </a:p>
          <a:p>
            <a:pPr algn="ctr">
              <a:buNone/>
            </a:pPr>
            <a:r>
              <a:rPr lang="en-US" altLang="ko-KR" sz="4000" b="1" i="0" dirty="0">
                <a:solidFill>
                  <a:srgbClr val="0C447C"/>
                </a:solidFill>
                <a:effectLst/>
                <a:latin typeface="Anthropic Sans"/>
              </a:rPr>
              <a:t>YOLOv8s FP16</a:t>
            </a:r>
            <a:endParaRPr lang="en-US" altLang="ko-KR" sz="4000" b="1" i="0" dirty="0">
              <a:solidFill>
                <a:srgbClr val="185FA5"/>
              </a:solidFill>
              <a:effectLst/>
              <a:latin typeface="Anthropic Sans"/>
            </a:endParaRPr>
          </a:p>
        </p:txBody>
      </p: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3082E8FF-9292-0C75-E283-0BD3E9E93C2D}"/>
              </a:ext>
            </a:extLst>
          </p:cNvPr>
          <p:cNvGrpSpPr/>
          <p:nvPr/>
        </p:nvGrpSpPr>
        <p:grpSpPr>
          <a:xfrm>
            <a:off x="712390" y="36348887"/>
            <a:ext cx="13906165" cy="1745436"/>
            <a:chOff x="796829" y="38613122"/>
            <a:chExt cx="13906165" cy="2334464"/>
          </a:xfrm>
        </p:grpSpPr>
        <p:sp>
          <p:nvSpPr>
            <p:cNvPr id="42" name="사각형: 둥근 모서리 41">
              <a:extLst>
                <a:ext uri="{FF2B5EF4-FFF2-40B4-BE49-F238E27FC236}">
                  <a16:creationId xmlns:a16="http://schemas.microsoft.com/office/drawing/2014/main" id="{818E9E8B-9EB9-B4D6-84D2-54E369D17601}"/>
                </a:ext>
              </a:extLst>
            </p:cNvPr>
            <p:cNvSpPr/>
            <p:nvPr/>
          </p:nvSpPr>
          <p:spPr>
            <a:xfrm>
              <a:off x="796829" y="38613122"/>
              <a:ext cx="3873738" cy="2334459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3507208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5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6">
                      <a:lumMod val="75000"/>
                    </a:schemeClr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34" charset="-127"/>
                  <a:cs typeface="+mn-cs"/>
                </a:rPr>
                <a:t>30–50%</a:t>
              </a:r>
            </a:p>
          </p:txBody>
        </p:sp>
        <p:sp>
          <p:nvSpPr>
            <p:cNvPr id="43" name="사각형: 둥근 모서리 42">
              <a:extLst>
                <a:ext uri="{FF2B5EF4-FFF2-40B4-BE49-F238E27FC236}">
                  <a16:creationId xmlns:a16="http://schemas.microsoft.com/office/drawing/2014/main" id="{7C8D3939-BCBA-46CE-BF89-631934EBF877}"/>
                </a:ext>
              </a:extLst>
            </p:cNvPr>
            <p:cNvSpPr/>
            <p:nvPr/>
          </p:nvSpPr>
          <p:spPr>
            <a:xfrm>
              <a:off x="4138890" y="38613127"/>
              <a:ext cx="10564104" cy="2334459"/>
            </a:xfrm>
            <a:prstGeom prst="roundRect">
              <a:avLst>
                <a:gd name="adj" fmla="val 17359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3507208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4000" i="0" u="none" strike="noStrike" kern="1200" cap="none" spc="0" normalizeH="0" baseline="0" noProof="0" dirty="0">
                  <a:ln>
                    <a:noFill/>
                  </a:ln>
                  <a:solidFill>
                    <a:schemeClr val="accent6">
                      <a:lumMod val="75000"/>
                    </a:schemeClr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34" charset="-127"/>
                  <a:cs typeface="+mn-cs"/>
                </a:rPr>
                <a:t>faster with FP16 vs FP32</a:t>
              </a:r>
            </a:p>
            <a:p>
              <a:pPr marL="0" marR="0" lvl="0" indent="0" algn="l" defTabSz="3507208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4000" i="0" u="none" strike="noStrike" kern="1200" cap="none" spc="0" normalizeH="0" baseline="0" noProof="0" dirty="0">
                  <a:ln>
                    <a:noFill/>
                  </a:ln>
                  <a:solidFill>
                    <a:schemeClr val="accent6">
                      <a:lumMod val="75000"/>
                    </a:schemeClr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34" charset="-127"/>
                  <a:cs typeface="+mn-cs"/>
                </a:rPr>
                <a:t>&lt;1% accuracy loss · both exceed 30fps threshold</a:t>
              </a:r>
            </a:p>
          </p:txBody>
        </p:sp>
      </p:grp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AF6C8F0D-0AE5-4633-D1F9-59471F41AB1A}"/>
              </a:ext>
            </a:extLst>
          </p:cNvPr>
          <p:cNvGrpSpPr/>
          <p:nvPr/>
        </p:nvGrpSpPr>
        <p:grpSpPr>
          <a:xfrm>
            <a:off x="814451" y="27017977"/>
            <a:ext cx="6578688" cy="4083935"/>
            <a:chOff x="1090817" y="26843525"/>
            <a:chExt cx="6578688" cy="4083935"/>
          </a:xfrm>
        </p:grpSpPr>
        <p:sp>
          <p:nvSpPr>
            <p:cNvPr id="34" name="사각형: 둥근 모서리 33">
              <a:extLst>
                <a:ext uri="{FF2B5EF4-FFF2-40B4-BE49-F238E27FC236}">
                  <a16:creationId xmlns:a16="http://schemas.microsoft.com/office/drawing/2014/main" id="{1B0F6269-331C-A1C2-DF0A-2A080AA141DF}"/>
                </a:ext>
              </a:extLst>
            </p:cNvPr>
            <p:cNvSpPr/>
            <p:nvPr/>
          </p:nvSpPr>
          <p:spPr>
            <a:xfrm>
              <a:off x="1090817" y="27911290"/>
              <a:ext cx="3240000" cy="9000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solidFill>
                <a:srgbClr val="54A4C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3500" dirty="0">
                  <a:solidFill>
                    <a:srgbClr val="0C447C"/>
                  </a:solidFill>
                </a:rPr>
                <a:t>Python 3.11</a:t>
              </a:r>
              <a:endParaRPr lang="ko-KR" altLang="en-US" sz="3500" dirty="0">
                <a:solidFill>
                  <a:srgbClr val="0C447C"/>
                </a:solidFill>
              </a:endParaRPr>
            </a:p>
          </p:txBody>
        </p:sp>
        <p:sp>
          <p:nvSpPr>
            <p:cNvPr id="44" name="사각형: 둥근 모서리 43">
              <a:extLst>
                <a:ext uri="{FF2B5EF4-FFF2-40B4-BE49-F238E27FC236}">
                  <a16:creationId xmlns:a16="http://schemas.microsoft.com/office/drawing/2014/main" id="{3B394B11-4488-2662-1571-35186B9ED4F6}"/>
                </a:ext>
              </a:extLst>
            </p:cNvPr>
            <p:cNvSpPr/>
            <p:nvPr/>
          </p:nvSpPr>
          <p:spPr>
            <a:xfrm>
              <a:off x="4429505" y="26869245"/>
              <a:ext cx="3240000" cy="9000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solidFill>
                <a:srgbClr val="54A4C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3500" dirty="0" err="1">
                  <a:solidFill>
                    <a:srgbClr val="0C447C"/>
                  </a:solidFill>
                </a:rPr>
                <a:t>FastAPI</a:t>
              </a:r>
              <a:endParaRPr lang="ko-KR" altLang="en-US" sz="3500" dirty="0">
                <a:solidFill>
                  <a:srgbClr val="0C447C"/>
                </a:solidFill>
              </a:endParaRPr>
            </a:p>
          </p:txBody>
        </p:sp>
        <p:sp>
          <p:nvSpPr>
            <p:cNvPr id="45" name="사각형: 둥근 모서리 44">
              <a:extLst>
                <a:ext uri="{FF2B5EF4-FFF2-40B4-BE49-F238E27FC236}">
                  <a16:creationId xmlns:a16="http://schemas.microsoft.com/office/drawing/2014/main" id="{134A852A-EAC5-8A03-D0EB-BCD43A5FB8CC}"/>
                </a:ext>
              </a:extLst>
            </p:cNvPr>
            <p:cNvSpPr/>
            <p:nvPr/>
          </p:nvSpPr>
          <p:spPr>
            <a:xfrm>
              <a:off x="1090817" y="26843525"/>
              <a:ext cx="3240000" cy="9000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solidFill>
                <a:srgbClr val="54A4C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3500" dirty="0">
                  <a:solidFill>
                    <a:srgbClr val="0C447C"/>
                  </a:solidFill>
                </a:rPr>
                <a:t>WebSocket</a:t>
              </a:r>
            </a:p>
          </p:txBody>
        </p:sp>
        <p:sp>
          <p:nvSpPr>
            <p:cNvPr id="48" name="사각형: 둥근 모서리 47">
              <a:extLst>
                <a:ext uri="{FF2B5EF4-FFF2-40B4-BE49-F238E27FC236}">
                  <a16:creationId xmlns:a16="http://schemas.microsoft.com/office/drawing/2014/main" id="{940E25A8-B699-1AE3-1E8D-36022C909F8F}"/>
                </a:ext>
              </a:extLst>
            </p:cNvPr>
            <p:cNvSpPr/>
            <p:nvPr/>
          </p:nvSpPr>
          <p:spPr>
            <a:xfrm>
              <a:off x="1090817" y="28992670"/>
              <a:ext cx="3240000" cy="9000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solidFill>
                <a:srgbClr val="54A4C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3500" dirty="0">
                  <a:solidFill>
                    <a:srgbClr val="0C447C"/>
                  </a:solidFill>
                </a:rPr>
                <a:t>YOLOv8</a:t>
              </a:r>
              <a:endParaRPr lang="ko-KR" altLang="en-US" sz="3500" dirty="0">
                <a:solidFill>
                  <a:srgbClr val="0C447C"/>
                </a:solidFill>
              </a:endParaRPr>
            </a:p>
          </p:txBody>
        </p:sp>
        <p:sp>
          <p:nvSpPr>
            <p:cNvPr id="49" name="사각형: 둥근 모서리 48">
              <a:extLst>
                <a:ext uri="{FF2B5EF4-FFF2-40B4-BE49-F238E27FC236}">
                  <a16:creationId xmlns:a16="http://schemas.microsoft.com/office/drawing/2014/main" id="{24A68E9C-83F7-3D3B-ACD2-7237A62098D6}"/>
                </a:ext>
              </a:extLst>
            </p:cNvPr>
            <p:cNvSpPr/>
            <p:nvPr/>
          </p:nvSpPr>
          <p:spPr>
            <a:xfrm>
              <a:off x="4429505" y="27904035"/>
              <a:ext cx="3240000" cy="9000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solidFill>
                <a:srgbClr val="54A4C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3500" dirty="0" err="1">
                  <a:solidFill>
                    <a:srgbClr val="0C447C"/>
                  </a:solidFill>
                </a:rPr>
                <a:t>TensorRT</a:t>
              </a:r>
              <a:r>
                <a:rPr lang="en-US" altLang="ko-KR" sz="3500" dirty="0">
                  <a:solidFill>
                    <a:srgbClr val="0C447C"/>
                  </a:solidFill>
                </a:rPr>
                <a:t> FP16</a:t>
              </a:r>
              <a:endParaRPr lang="ko-KR" altLang="en-US" sz="3500" dirty="0">
                <a:solidFill>
                  <a:srgbClr val="0C447C"/>
                </a:solidFill>
              </a:endParaRPr>
            </a:p>
          </p:txBody>
        </p:sp>
        <p:sp>
          <p:nvSpPr>
            <p:cNvPr id="50" name="사각형: 둥근 모서리 49">
              <a:extLst>
                <a:ext uri="{FF2B5EF4-FFF2-40B4-BE49-F238E27FC236}">
                  <a16:creationId xmlns:a16="http://schemas.microsoft.com/office/drawing/2014/main" id="{1D396331-AD50-47F5-CFA0-756BD61052D1}"/>
                </a:ext>
              </a:extLst>
            </p:cNvPr>
            <p:cNvSpPr/>
            <p:nvPr/>
          </p:nvSpPr>
          <p:spPr>
            <a:xfrm>
              <a:off x="1090817" y="30027460"/>
              <a:ext cx="3240000" cy="9000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solidFill>
                <a:srgbClr val="54A4C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3500" dirty="0" err="1">
                  <a:solidFill>
                    <a:srgbClr val="0C447C"/>
                  </a:solidFill>
                </a:rPr>
                <a:t>BoxMOT</a:t>
              </a:r>
              <a:endParaRPr lang="ko-KR" altLang="en-US" sz="3500" dirty="0">
                <a:solidFill>
                  <a:srgbClr val="0C447C"/>
                </a:solidFill>
              </a:endParaRPr>
            </a:p>
          </p:txBody>
        </p:sp>
        <p:sp>
          <p:nvSpPr>
            <p:cNvPr id="51" name="사각형: 둥근 모서리 50">
              <a:extLst>
                <a:ext uri="{FF2B5EF4-FFF2-40B4-BE49-F238E27FC236}">
                  <a16:creationId xmlns:a16="http://schemas.microsoft.com/office/drawing/2014/main" id="{543E091F-B1D1-94EA-2976-A68E1FFDAF14}"/>
                </a:ext>
              </a:extLst>
            </p:cNvPr>
            <p:cNvSpPr/>
            <p:nvPr/>
          </p:nvSpPr>
          <p:spPr>
            <a:xfrm>
              <a:off x="4429505" y="28960585"/>
              <a:ext cx="3240000" cy="9000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solidFill>
                <a:srgbClr val="54A4C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3500" dirty="0">
                  <a:solidFill>
                    <a:srgbClr val="0C447C"/>
                  </a:solidFill>
                </a:rPr>
                <a:t>OpenCV</a:t>
              </a:r>
              <a:endParaRPr lang="ko-KR" altLang="en-US" sz="3500" dirty="0">
                <a:solidFill>
                  <a:srgbClr val="0C447C"/>
                </a:solidFill>
              </a:endParaRPr>
            </a:p>
          </p:txBody>
        </p:sp>
        <p:sp>
          <p:nvSpPr>
            <p:cNvPr id="52" name="사각형: 둥근 모서리 51">
              <a:extLst>
                <a:ext uri="{FF2B5EF4-FFF2-40B4-BE49-F238E27FC236}">
                  <a16:creationId xmlns:a16="http://schemas.microsoft.com/office/drawing/2014/main" id="{FBA84A72-D20F-A09A-9467-AB747803224C}"/>
                </a:ext>
              </a:extLst>
            </p:cNvPr>
            <p:cNvSpPr/>
            <p:nvPr/>
          </p:nvSpPr>
          <p:spPr>
            <a:xfrm>
              <a:off x="4429505" y="29995375"/>
              <a:ext cx="3240000" cy="9000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solidFill>
                <a:srgbClr val="54A4C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3500" dirty="0" err="1">
                  <a:solidFill>
                    <a:srgbClr val="0C447C"/>
                  </a:solidFill>
                </a:rPr>
                <a:t>PyTorch</a:t>
              </a:r>
              <a:r>
                <a:rPr lang="en-US" altLang="ko-KR" sz="3500" dirty="0">
                  <a:solidFill>
                    <a:srgbClr val="0C447C"/>
                  </a:solidFill>
                </a:rPr>
                <a:t> 2.6</a:t>
              </a:r>
              <a:endParaRPr lang="ko-KR" altLang="en-US" sz="3500" dirty="0">
                <a:solidFill>
                  <a:srgbClr val="0C447C"/>
                </a:solidFill>
              </a:endParaRPr>
            </a:p>
          </p:txBody>
        </p:sp>
      </p:grp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1623A151-37EF-21FB-FA1B-2376AB74E57D}"/>
              </a:ext>
            </a:extLst>
          </p:cNvPr>
          <p:cNvGrpSpPr/>
          <p:nvPr/>
        </p:nvGrpSpPr>
        <p:grpSpPr>
          <a:xfrm>
            <a:off x="7876635" y="27043697"/>
            <a:ext cx="6599082" cy="3020574"/>
            <a:chOff x="8069237" y="26869245"/>
            <a:chExt cx="6599082" cy="3020574"/>
          </a:xfrm>
        </p:grpSpPr>
        <p:sp>
          <p:nvSpPr>
            <p:cNvPr id="36" name="사각형: 둥근 모서리 35">
              <a:extLst>
                <a:ext uri="{FF2B5EF4-FFF2-40B4-BE49-F238E27FC236}">
                  <a16:creationId xmlns:a16="http://schemas.microsoft.com/office/drawing/2014/main" id="{BD436E36-5C00-2586-B40D-607C1AC7BB81}"/>
                </a:ext>
              </a:extLst>
            </p:cNvPr>
            <p:cNvSpPr/>
            <p:nvPr/>
          </p:nvSpPr>
          <p:spPr>
            <a:xfrm>
              <a:off x="8069237" y="26869245"/>
              <a:ext cx="3240000" cy="9000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4000">
                  <a:solidFill>
                    <a:srgbClr val="0C447C"/>
                  </a:solidFill>
                </a:rPr>
                <a:t>React 18</a:t>
              </a:r>
              <a:endParaRPr lang="ko-KR" altLang="en-US" sz="4000" dirty="0">
                <a:solidFill>
                  <a:srgbClr val="0C447C"/>
                </a:solidFill>
              </a:endParaRPr>
            </a:p>
          </p:txBody>
        </p:sp>
        <p:sp>
          <p:nvSpPr>
            <p:cNvPr id="53" name="사각형: 둥근 모서리 52">
              <a:extLst>
                <a:ext uri="{FF2B5EF4-FFF2-40B4-BE49-F238E27FC236}">
                  <a16:creationId xmlns:a16="http://schemas.microsoft.com/office/drawing/2014/main" id="{7E6E91F7-2B35-DBFE-6AF8-4D59397F41DD}"/>
                </a:ext>
              </a:extLst>
            </p:cNvPr>
            <p:cNvSpPr/>
            <p:nvPr/>
          </p:nvSpPr>
          <p:spPr>
            <a:xfrm>
              <a:off x="8069237" y="27906539"/>
              <a:ext cx="3240000" cy="9000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4000">
                  <a:solidFill>
                    <a:srgbClr val="0C447C"/>
                  </a:solidFill>
                </a:rPr>
                <a:t>deck.gl</a:t>
              </a:r>
              <a:endParaRPr lang="ko-KR" altLang="en-US" sz="4000" dirty="0">
                <a:solidFill>
                  <a:srgbClr val="0C447C"/>
                </a:solidFill>
              </a:endParaRPr>
            </a:p>
          </p:txBody>
        </p:sp>
        <p:sp>
          <p:nvSpPr>
            <p:cNvPr id="54" name="사각형: 둥근 모서리 53">
              <a:extLst>
                <a:ext uri="{FF2B5EF4-FFF2-40B4-BE49-F238E27FC236}">
                  <a16:creationId xmlns:a16="http://schemas.microsoft.com/office/drawing/2014/main" id="{D028B02E-B1A7-B38D-F659-2F1A7F020274}"/>
                </a:ext>
              </a:extLst>
            </p:cNvPr>
            <p:cNvSpPr/>
            <p:nvPr/>
          </p:nvSpPr>
          <p:spPr>
            <a:xfrm>
              <a:off x="8122289" y="28989819"/>
              <a:ext cx="3240000" cy="9000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4000">
                  <a:solidFill>
                    <a:srgbClr val="0C447C"/>
                  </a:solidFill>
                </a:rPr>
                <a:t>MapLibre</a:t>
              </a:r>
              <a:endParaRPr lang="ko-KR" altLang="en-US" sz="4000" dirty="0">
                <a:solidFill>
                  <a:srgbClr val="0C447C"/>
                </a:solidFill>
              </a:endParaRPr>
            </a:p>
          </p:txBody>
        </p:sp>
        <p:sp>
          <p:nvSpPr>
            <p:cNvPr id="55" name="사각형: 둥근 모서리 54">
              <a:extLst>
                <a:ext uri="{FF2B5EF4-FFF2-40B4-BE49-F238E27FC236}">
                  <a16:creationId xmlns:a16="http://schemas.microsoft.com/office/drawing/2014/main" id="{659EFFD5-1555-899E-C666-01B275972D56}"/>
                </a:ext>
              </a:extLst>
            </p:cNvPr>
            <p:cNvSpPr/>
            <p:nvPr/>
          </p:nvSpPr>
          <p:spPr>
            <a:xfrm>
              <a:off x="11428319" y="26869245"/>
              <a:ext cx="3240000" cy="9000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4000">
                  <a:solidFill>
                    <a:srgbClr val="0C447C"/>
                  </a:solidFill>
                </a:rPr>
                <a:t>hls.js</a:t>
              </a:r>
              <a:endParaRPr lang="ko-KR" altLang="en-US" sz="4000" dirty="0">
                <a:solidFill>
                  <a:srgbClr val="0C447C"/>
                </a:solidFill>
              </a:endParaRPr>
            </a:p>
          </p:txBody>
        </p:sp>
        <p:sp>
          <p:nvSpPr>
            <p:cNvPr id="56" name="사각형: 둥근 모서리 55">
              <a:extLst>
                <a:ext uri="{FF2B5EF4-FFF2-40B4-BE49-F238E27FC236}">
                  <a16:creationId xmlns:a16="http://schemas.microsoft.com/office/drawing/2014/main" id="{FAE03C44-A751-0AEE-1F8A-AEF44CB97BBB}"/>
                </a:ext>
              </a:extLst>
            </p:cNvPr>
            <p:cNvSpPr/>
            <p:nvPr/>
          </p:nvSpPr>
          <p:spPr>
            <a:xfrm>
              <a:off x="11428319" y="27916496"/>
              <a:ext cx="3240000" cy="9000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4000">
                  <a:solidFill>
                    <a:srgbClr val="0C447C"/>
                  </a:solidFill>
                </a:rPr>
                <a:t>Recharts</a:t>
              </a:r>
              <a:endParaRPr lang="ko-KR" altLang="en-US" sz="4000" dirty="0">
                <a:solidFill>
                  <a:srgbClr val="0C447C"/>
                </a:solidFill>
              </a:endParaRPr>
            </a:p>
          </p:txBody>
        </p:sp>
      </p:grpSp>
      <p:pic>
        <p:nvPicPr>
          <p:cNvPr id="61" name="그림 60">
            <a:extLst>
              <a:ext uri="{FF2B5EF4-FFF2-40B4-BE49-F238E27FC236}">
                <a16:creationId xmlns:a16="http://schemas.microsoft.com/office/drawing/2014/main" id="{03A20D31-1636-67F5-8A19-B4A5A51720D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62600" y="15932568"/>
            <a:ext cx="13527283" cy="782154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75D8A9A-B68F-727F-DFCC-CDDFDD3854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971" y="-120871"/>
            <a:ext cx="29177271" cy="1934145"/>
          </a:xfrm>
        </p:spPr>
        <p:txBody>
          <a:bodyPr>
            <a:noAutofit/>
          </a:bodyPr>
          <a:lstStyle/>
          <a:p>
            <a:r>
              <a:rPr sz="8800" b="1" dirty="0">
                <a:solidFill>
                  <a:schemeClr val="bg1"/>
                </a:solidFill>
                <a:latin typeface="+mn-lt"/>
              </a:rPr>
              <a:t>Traffic Digital Twin</a:t>
            </a:r>
            <a:endParaRPr lang="ko-KR" altLang="en-US" sz="88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CFACB71-9B2E-C645-6141-54FF07C427EC}"/>
              </a:ext>
            </a:extLst>
          </p:cNvPr>
          <p:cNvSpPr txBox="1"/>
          <p:nvPr/>
        </p:nvSpPr>
        <p:spPr>
          <a:xfrm>
            <a:off x="2526461" y="12362814"/>
            <a:ext cx="2522229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4000" dirty="0"/>
              <a:t>This pipeline ingests HLS camera streams, detects and tracks vehicles using YOLOv8 and </a:t>
            </a:r>
            <a:r>
              <a:rPr lang="en-US" altLang="ko-KR" sz="4000" dirty="0" err="1"/>
              <a:t>BoxMOT</a:t>
            </a:r>
            <a:r>
              <a:rPr lang="en-US" altLang="ko-KR" sz="4000" dirty="0"/>
              <a:t>, converts pixel positions to GPS coordinates, estimates smoothed speeds, and visualizes real-time traffic status on a live map.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0284383-D8D7-B006-4CC3-0B5D62F0EFE3}"/>
              </a:ext>
            </a:extLst>
          </p:cNvPr>
          <p:cNvSpPr txBox="1"/>
          <p:nvPr/>
        </p:nvSpPr>
        <p:spPr>
          <a:xfrm>
            <a:off x="17428229" y="30240505"/>
            <a:ext cx="4579510" cy="7175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4000" b="1" dirty="0">
                <a:solidFill>
                  <a:srgbClr val="002060"/>
                </a:solidFill>
              </a:rPr>
              <a:t>②</a:t>
            </a:r>
            <a:r>
              <a:rPr kumimoji="0" lang="en-US" altLang="ko-KR" sz="4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YOLO Detection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B42E850-203B-EF90-63A0-F2B8A777D3D6}"/>
              </a:ext>
            </a:extLst>
          </p:cNvPr>
          <p:cNvSpPr txBox="1"/>
          <p:nvPr/>
        </p:nvSpPr>
        <p:spPr>
          <a:xfrm>
            <a:off x="16863194" y="39505352"/>
            <a:ext cx="560167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0" indent="-742950">
              <a:buAutoNum type="circleNumDbPlain" startAt="4"/>
              <a:defRPr/>
            </a:pPr>
            <a:r>
              <a:rPr lang="en-US" altLang="ko-KR" sz="4000" b="1" dirty="0">
                <a:solidFill>
                  <a:srgbClr val="002060"/>
                </a:solidFill>
              </a:rPr>
              <a:t>Calibration </a:t>
            </a:r>
          </a:p>
          <a:p>
            <a:pPr lvl="0">
              <a:defRPr/>
            </a:pPr>
            <a:r>
              <a:rPr lang="en-US" altLang="ko-KR" sz="4000" b="1" dirty="0">
                <a:solidFill>
                  <a:srgbClr val="002060"/>
                </a:solidFill>
              </a:rPr>
              <a:t>—  satellite FOV </a:t>
            </a:r>
            <a:endParaRPr kumimoji="0" lang="en-US" altLang="ko-KR" sz="40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B2B126D-1C9F-22AE-E2B5-D1A8A2432CDE}"/>
              </a:ext>
            </a:extLst>
          </p:cNvPr>
          <p:cNvSpPr txBox="1"/>
          <p:nvPr/>
        </p:nvSpPr>
        <p:spPr>
          <a:xfrm>
            <a:off x="22193565" y="39576423"/>
            <a:ext cx="1593668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4000" b="1" dirty="0">
                <a:solidFill>
                  <a:srgbClr val="002060"/>
                </a:solidFill>
              </a:rPr>
              <a:t>⑤ </a:t>
            </a:r>
            <a:r>
              <a:rPr lang="en-US" altLang="ko-KR" sz="4000" b="1" dirty="0">
                <a:solidFill>
                  <a:srgbClr val="002060"/>
                </a:solidFill>
              </a:rPr>
              <a:t>ROI Editor  —  green polygon</a:t>
            </a:r>
          </a:p>
          <a:p>
            <a:pPr marL="742950" indent="-742950">
              <a:buFontTx/>
              <a:buAutoNum type="circleNumDbPlain" startAt="4"/>
              <a:defRPr/>
            </a:pPr>
            <a:endParaRPr lang="en-US" altLang="ko-KR" sz="4000" b="1" dirty="0">
              <a:solidFill>
                <a:srgbClr val="00206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E6A6D38-872B-25FE-71DA-13338147CDB1}"/>
              </a:ext>
            </a:extLst>
          </p:cNvPr>
          <p:cNvSpPr txBox="1"/>
          <p:nvPr/>
        </p:nvSpPr>
        <p:spPr>
          <a:xfrm>
            <a:off x="20127288" y="23790423"/>
            <a:ext cx="453159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350720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①  CCTV Map View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2FA87ED-442D-D134-3E4F-8FB17B091AFF}"/>
              </a:ext>
            </a:extLst>
          </p:cNvPr>
          <p:cNvSpPr txBox="1"/>
          <p:nvPr/>
        </p:nvSpPr>
        <p:spPr>
          <a:xfrm>
            <a:off x="24059111" y="31689756"/>
            <a:ext cx="5067358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0" indent="-742950" algn="ctr">
              <a:buAutoNum type="circleNumDbPlain" startAt="3"/>
              <a:defRPr/>
            </a:pPr>
            <a:r>
              <a:rPr lang="en-US" altLang="ko-KR" sz="4000" b="1" dirty="0">
                <a:solidFill>
                  <a:srgbClr val="002060"/>
                </a:solidFill>
              </a:rPr>
              <a:t>Live Sidebar</a:t>
            </a:r>
          </a:p>
          <a:p>
            <a:pPr lvl="0" algn="ctr">
              <a:defRPr/>
            </a:pPr>
            <a:r>
              <a:rPr lang="en-US" altLang="ko-KR" sz="3600" b="1" dirty="0">
                <a:solidFill>
                  <a:srgbClr val="002060"/>
                </a:solidFill>
              </a:rPr>
              <a:t>— counts, vehicle list, speed log, LOS, alerts </a:t>
            </a:r>
            <a:endParaRPr kumimoji="0" lang="en-US" altLang="ko-KR" sz="40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085798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568</TotalTime>
  <Words>282</Words>
  <Application>Microsoft Office PowerPoint</Application>
  <PresentationFormat>Custom</PresentationFormat>
  <Paragraphs>65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Anthropic Sans</vt:lpstr>
      <vt:lpstr>Arial</vt:lpstr>
      <vt:lpstr>Calibri</vt:lpstr>
      <vt:lpstr>Calibri Light</vt:lpstr>
      <vt:lpstr>Office Theme</vt:lpstr>
      <vt:lpstr>Traffic Digital Twin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 Title Research Title</dc:title>
  <dc:creator>SUNY Korea</dc:creator>
  <cp:lastModifiedBy>권다현</cp:lastModifiedBy>
  <cp:revision>31</cp:revision>
  <dcterms:created xsi:type="dcterms:W3CDTF">2024-10-30T09:13:46Z</dcterms:created>
  <dcterms:modified xsi:type="dcterms:W3CDTF">2026-05-18T16:14:47Z</dcterms:modified>
</cp:coreProperties>
</file>